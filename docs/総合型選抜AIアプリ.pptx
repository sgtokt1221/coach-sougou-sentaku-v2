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897582"/>
            <a:ext cx="73783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x EDUCATION SAAS</a:t>
            </a:r>
            <a:endParaRPr lang="en-US" sz="1100" dirty="0"/>
          </a:p>
        </p:txBody>
      </p:sp>
      <p:pic>
        <p:nvPicPr>
          <p:cNvPr id="3" name="Image 0" descr="/Users/shigetaokito/Desktop/coach-pitch/assets/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316534"/>
            <a:ext cx="4825901" cy="12501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2693640"/>
            <a:ext cx="737831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が変える、総合型選抜の未来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62000" y="3261866"/>
            <a:ext cx="1034802" cy="345877"/>
          </a:xfrm>
          <a:prstGeom prst="roundRect">
            <a:avLst>
              <a:gd name="adj" fmla="val 18359"/>
            </a:avLst>
          </a:prstGeom>
          <a:solidFill>
            <a:srgbClr val="14B8A6">
              <a:alpha val="15000"/>
            </a:srgbClr>
          </a:solidFill>
          <a:ln w="9525">
            <a:solidFill>
              <a:srgbClr val="14B8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98475" y="3334792"/>
            <a:ext cx="7770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小論文AI添削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923752" y="3261866"/>
            <a:ext cx="907852" cy="345877"/>
          </a:xfrm>
          <a:prstGeom prst="roundRect">
            <a:avLst>
              <a:gd name="adj" fmla="val 18359"/>
            </a:avLst>
          </a:prstGeom>
          <a:solidFill>
            <a:srgbClr val="14B8A6">
              <a:alpha val="15000"/>
            </a:srgbClr>
          </a:solidFill>
          <a:ln w="9525">
            <a:solidFill>
              <a:srgbClr val="14B8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060228" y="3334792"/>
            <a:ext cx="6475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AI模擬面接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958554" y="3261866"/>
            <a:ext cx="1283643" cy="345877"/>
          </a:xfrm>
          <a:prstGeom prst="roundRect">
            <a:avLst>
              <a:gd name="adj" fmla="val 18359"/>
            </a:avLst>
          </a:prstGeom>
          <a:solidFill>
            <a:srgbClr val="14B8A6">
              <a:alpha val="15000"/>
            </a:srgbClr>
          </a:solidFill>
          <a:ln w="9525">
            <a:solidFill>
              <a:srgbClr val="14B8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095030" y="3334792"/>
            <a:ext cx="10309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志望校マッチング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369147" y="3261866"/>
            <a:ext cx="1034802" cy="345877"/>
          </a:xfrm>
          <a:prstGeom prst="roundRect">
            <a:avLst>
              <a:gd name="adj" fmla="val 18359"/>
            </a:avLst>
          </a:prstGeom>
          <a:solidFill>
            <a:srgbClr val="14B8A6">
              <a:alpha val="15000"/>
            </a:srgbClr>
          </a:solidFill>
          <a:ln w="9525">
            <a:solidFill>
              <a:srgbClr val="14B8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505623" y="3334792"/>
            <a:ext cx="7770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出願書類添削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530900" y="3261866"/>
            <a:ext cx="1345109" cy="345877"/>
          </a:xfrm>
          <a:prstGeom prst="roundRect">
            <a:avLst>
              <a:gd name="adj" fmla="val 18359"/>
            </a:avLst>
          </a:prstGeom>
          <a:solidFill>
            <a:srgbClr val="14B8A6">
              <a:alpha val="15000"/>
            </a:srgbClr>
          </a:solidFill>
          <a:ln w="9525">
            <a:solidFill>
              <a:srgbClr val="14B8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667375" y="3334792"/>
            <a:ext cx="10936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MBTI性格診断連携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002959" y="3261866"/>
            <a:ext cx="992684" cy="345877"/>
          </a:xfrm>
          <a:prstGeom prst="roundRect">
            <a:avLst>
              <a:gd name="adj" fmla="val 18359"/>
            </a:avLst>
          </a:prstGeom>
          <a:solidFill>
            <a:srgbClr val="14B8A6">
              <a:alpha val="15000"/>
            </a:srgbClr>
          </a:solidFill>
          <a:ln w="9525">
            <a:solidFill>
              <a:srgbClr val="14B8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7139434" y="3334792"/>
            <a:ext cx="7341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189学部対応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62000" y="4115693"/>
            <a:ext cx="73783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Pitch Deck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igetaokito/Desktop/coach-pitch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99" y="152400"/>
            <a:ext cx="762000" cy="190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7950" y="431750"/>
            <a:ext cx="8290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7950" y="777776"/>
            <a:ext cx="8290661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1400"/>
              </a:spcAft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年間50万円、それでも「受かる保証なし」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07950" y="1450777"/>
            <a:ext cx="2590800" cy="2880122"/>
          </a:xfrm>
          <a:prstGeom prst="roundRect">
            <a:avLst>
              <a:gd name="adj" fmla="val 3922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85651" y="1628477"/>
            <a:ext cx="228010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85651" y="2076152"/>
            <a:ext cx="22801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独学で挑む受験生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651" y="2355503"/>
            <a:ext cx="2280106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小論文・面接・志望理由書を体系的に指導できる環境がない。都市部と地方の教育格差が拡大。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5651" y="2911673"/>
            <a:ext cx="2235398" cy="416421"/>
          </a:xfrm>
          <a:prstGeom prst="roundRect">
            <a:avLst>
              <a:gd name="adj" fmla="val 1219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787152" y="2987873"/>
            <a:ext cx="2073045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「何から始めればいいか分からない。学校の先生も総合型は詳しくない」 ― 高3受験生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276451" y="1450777"/>
            <a:ext cx="2590949" cy="2880122"/>
          </a:xfrm>
          <a:prstGeom prst="roundRect">
            <a:avLst>
              <a:gd name="adj" fmla="val 3921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454152" y="1628477"/>
            <a:ext cx="228025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50-100万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3454152" y="2199977"/>
            <a:ext cx="22802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専門塾の年間費用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454152" y="2479328"/>
            <a:ext cx="228025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一般入試塾の3倍。個別指導が必須でスケールしにくく、価格が高止まりする構造的問題。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454152" y="3035498"/>
            <a:ext cx="2235547" cy="416421"/>
          </a:xfrm>
          <a:prstGeom prst="roundRect">
            <a:avLst>
              <a:gd name="adj" fmla="val 1219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3555653" y="3111698"/>
            <a:ext cx="2073197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「塾は月8万。兄弟もいるし家計が厳しい」 ― 保護者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045101" y="1450777"/>
            <a:ext cx="2590949" cy="2880122"/>
          </a:xfrm>
          <a:prstGeom prst="roundRect">
            <a:avLst>
              <a:gd name="adj" fmla="val 3921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222802" y="1628477"/>
            <a:ext cx="228025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1:5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6222802" y="2076152"/>
            <a:ext cx="22802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講師1人に生徒5人以上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222802" y="2355503"/>
            <a:ext cx="228025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添削・面接指導ができる講師が圧倒的に不足。フィードバックは遅く、質もばらつく。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222802" y="2911673"/>
            <a:ext cx="2235547" cy="416421"/>
          </a:xfrm>
          <a:prstGeom prst="roundRect">
            <a:avLst>
              <a:gd name="adj" fmla="val 1219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324302" y="2987873"/>
            <a:ext cx="2073197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「添削が返ってくるまで1週間。入試に間に合わない」 ― 高3受験生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07950" y="4457849"/>
            <a:ext cx="8128099" cy="482501"/>
          </a:xfrm>
          <a:prstGeom prst="roundRect">
            <a:avLst>
              <a:gd name="adj" fmla="val 15793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761851" y="4599087"/>
            <a:ext cx="38207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志願者数は5年で1.8倍に急増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― 需要は爆発、供給は追いつかない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183934" y="4584799"/>
            <a:ext cx="1222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巨大な市場機会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igetaokito/Desktop/coach-pitch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99" y="152400"/>
            <a:ext cx="762000" cy="190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7950" y="406301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7950" y="726877"/>
            <a:ext cx="82906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CoachFor = 総合型選抜の「AI専属コーチ」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07950" y="1361777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24時間対応 x プロ講師レベル x 月額4,980円から ― 誰もが最高の対策を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31750" y="1790254"/>
            <a:ext cx="2057251" cy="615553"/>
          </a:xfrm>
          <a:prstGeom prst="roundRect">
            <a:avLst>
              <a:gd name="adj" fmla="val 12379"/>
            </a:avLst>
          </a:prstGeom>
          <a:solidFill>
            <a:srgbClr val="F0FD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450800" y="1790254"/>
            <a:ext cx="0" cy="615553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pic>
        <p:nvPicPr>
          <p:cNvPr id="8" name="Image 1" descr="/Users/shigetaokito/Desktop/coach-pitch/assets/icon-ess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701" y="1879104"/>
            <a:ext cx="253901" cy="25390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88802" y="1879104"/>
            <a:ext cx="154157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AI小論文添削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88802" y="2052935"/>
            <a:ext cx="1541577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手書きOCR + AP基準4軸評価で即時フィードバック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2577852" y="1790254"/>
            <a:ext cx="2057251" cy="615553"/>
          </a:xfrm>
          <a:prstGeom prst="roundRect">
            <a:avLst>
              <a:gd name="adj" fmla="val 12379"/>
            </a:avLst>
          </a:prstGeom>
          <a:solidFill>
            <a:srgbClr val="F0FD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2596902" y="1790254"/>
            <a:ext cx="0" cy="615553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pic>
        <p:nvPicPr>
          <p:cNvPr id="13" name="Image 2" descr="/Users/shigetaokito/Desktop/coach-pitch/assets/icon-intervie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4802" y="1879104"/>
            <a:ext cx="253901" cy="25390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034903" y="1879104"/>
            <a:ext cx="154157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AI模擬面接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3034903" y="2052935"/>
            <a:ext cx="1541577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大学別AP質問生成。音声で話し方まで分析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431750" y="2494657"/>
            <a:ext cx="2057251" cy="615553"/>
          </a:xfrm>
          <a:prstGeom prst="roundRect">
            <a:avLst>
              <a:gd name="adj" fmla="val 12379"/>
            </a:avLst>
          </a:prstGeom>
          <a:solidFill>
            <a:srgbClr val="F0FD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2"/>
          <p:cNvSpPr/>
          <p:nvPr/>
        </p:nvSpPr>
        <p:spPr>
          <a:xfrm>
            <a:off x="450800" y="2494657"/>
            <a:ext cx="0" cy="615553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pic>
        <p:nvPicPr>
          <p:cNvPr id="18" name="Image 3" descr="/Users/shigetaokito/Desktop/coach-pitch/assets/icon-match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701" y="2583507"/>
            <a:ext cx="253901" cy="25390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88802" y="2583507"/>
            <a:ext cx="154157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志望校マッチング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888802" y="2757339"/>
            <a:ext cx="1541577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GPA・活動実績・MBTI性格診断から最適校をAI提案</a:t>
            </a:r>
            <a:endParaRPr lang="en-US" sz="800" dirty="0"/>
          </a:p>
        </p:txBody>
      </p:sp>
      <p:sp>
        <p:nvSpPr>
          <p:cNvPr id="21" name="Text 15"/>
          <p:cNvSpPr/>
          <p:nvPr/>
        </p:nvSpPr>
        <p:spPr>
          <a:xfrm>
            <a:off x="2577852" y="2494657"/>
            <a:ext cx="2057251" cy="615553"/>
          </a:xfrm>
          <a:prstGeom prst="roundRect">
            <a:avLst>
              <a:gd name="adj" fmla="val 12379"/>
            </a:avLst>
          </a:prstGeom>
          <a:solidFill>
            <a:srgbClr val="F0FD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6"/>
          <p:cNvSpPr/>
          <p:nvPr/>
        </p:nvSpPr>
        <p:spPr>
          <a:xfrm>
            <a:off x="2596902" y="2494657"/>
            <a:ext cx="0" cy="615553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pic>
        <p:nvPicPr>
          <p:cNvPr id="23" name="Image 4" descr="/Users/shigetaokito/Desktop/coach-pitch/assets/icon-growt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4802" y="2583507"/>
            <a:ext cx="253901" cy="25390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034903" y="2583507"/>
            <a:ext cx="154157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成長トラッキング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3034903" y="2757339"/>
            <a:ext cx="1541577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弱点自動検出・可視化でPDCAを回す</a:t>
            </a:r>
            <a:endParaRPr lang="en-US" sz="800" dirty="0"/>
          </a:p>
        </p:txBody>
      </p:sp>
      <p:sp>
        <p:nvSpPr>
          <p:cNvPr id="26" name="Text 19"/>
          <p:cNvSpPr/>
          <p:nvPr/>
        </p:nvSpPr>
        <p:spPr>
          <a:xfrm>
            <a:off x="431750" y="3199061"/>
            <a:ext cx="2057251" cy="615553"/>
          </a:xfrm>
          <a:prstGeom prst="roundRect">
            <a:avLst>
              <a:gd name="adj" fmla="val 12379"/>
            </a:avLst>
          </a:prstGeom>
          <a:solidFill>
            <a:srgbClr val="F0FD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0"/>
          <p:cNvSpPr/>
          <p:nvPr/>
        </p:nvSpPr>
        <p:spPr>
          <a:xfrm>
            <a:off x="450800" y="3199061"/>
            <a:ext cx="0" cy="615553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pic>
        <p:nvPicPr>
          <p:cNvPr id="28" name="Image 5" descr="/Users/shigetaokito/Desktop/coach-pitch/assets/icon-docume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701" y="3287911"/>
            <a:ext cx="253901" cy="253901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88802" y="3287911"/>
            <a:ext cx="154157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出願書類添削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888802" y="3461742"/>
            <a:ext cx="1541577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志望理由書・活動報告書を3軸で評価</a:t>
            </a:r>
            <a:endParaRPr lang="en-US" sz="800" dirty="0"/>
          </a:p>
        </p:txBody>
      </p:sp>
      <p:sp>
        <p:nvSpPr>
          <p:cNvPr id="31" name="Text 23"/>
          <p:cNvSpPr/>
          <p:nvPr/>
        </p:nvSpPr>
        <p:spPr>
          <a:xfrm>
            <a:off x="2577852" y="3199061"/>
            <a:ext cx="2057251" cy="615553"/>
          </a:xfrm>
          <a:prstGeom prst="roundRect">
            <a:avLst>
              <a:gd name="adj" fmla="val 12379"/>
            </a:avLst>
          </a:prstGeom>
          <a:solidFill>
            <a:srgbClr val="F0FD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24"/>
          <p:cNvSpPr/>
          <p:nvPr/>
        </p:nvSpPr>
        <p:spPr>
          <a:xfrm>
            <a:off x="2596902" y="3199061"/>
            <a:ext cx="0" cy="615553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pic>
        <p:nvPicPr>
          <p:cNvPr id="33" name="Image 6" descr="/Users/shigetaokito/Desktop/coach-pitch/assets/icon-targe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04802" y="3287911"/>
            <a:ext cx="253901" cy="253901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3034903" y="3287911"/>
            <a:ext cx="154157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MBTI性格診断連携</a:t>
            </a:r>
            <a:endParaRPr lang="en-US" sz="900" dirty="0"/>
          </a:p>
        </p:txBody>
      </p:sp>
      <p:sp>
        <p:nvSpPr>
          <p:cNvPr id="35" name="Text 26"/>
          <p:cNvSpPr/>
          <p:nvPr/>
        </p:nvSpPr>
        <p:spPr>
          <a:xfrm>
            <a:off x="3034903" y="3461742"/>
            <a:ext cx="1541577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性格特性から強みを言語化し面接・書類に活用</a:t>
            </a:r>
            <a:endParaRPr lang="en-US" sz="800" dirty="0"/>
          </a:p>
        </p:txBody>
      </p:sp>
      <p:sp>
        <p:nvSpPr>
          <p:cNvPr id="36" name="Text 27"/>
          <p:cNvSpPr/>
          <p:nvPr/>
        </p:nvSpPr>
        <p:spPr>
          <a:xfrm>
            <a:off x="5307360" y="1790254"/>
            <a:ext cx="3404890" cy="3353246"/>
          </a:xfrm>
          <a:prstGeom prst="roundRect">
            <a:avLst>
              <a:gd name="adj" fmla="val 30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28"/>
          <p:cNvSpPr/>
          <p:nvPr/>
        </p:nvSpPr>
        <p:spPr>
          <a:xfrm>
            <a:off x="5443835" y="1926729"/>
            <a:ext cx="319457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既存塾 vs CoachFor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5443835" y="2396579"/>
            <a:ext cx="3131939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6071751" y="2202954"/>
            <a:ext cx="7124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専門塾</a:t>
            </a:r>
            <a:endParaRPr lang="en-US" sz="700" dirty="0"/>
          </a:p>
        </p:txBody>
      </p:sp>
      <p:sp>
        <p:nvSpPr>
          <p:cNvPr id="40" name="Text 31"/>
          <p:cNvSpPr/>
          <p:nvPr/>
        </p:nvSpPr>
        <p:spPr>
          <a:xfrm>
            <a:off x="6770202" y="2202954"/>
            <a:ext cx="7124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CoachFor</a:t>
            </a:r>
            <a:endParaRPr lang="en-US" sz="700" dirty="0"/>
          </a:p>
        </p:txBody>
      </p:sp>
      <p:sp>
        <p:nvSpPr>
          <p:cNvPr id="41" name="Shape 32"/>
          <p:cNvSpPr/>
          <p:nvPr/>
        </p:nvSpPr>
        <p:spPr>
          <a:xfrm>
            <a:off x="5443835" y="2680543"/>
            <a:ext cx="31319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2" name="Text 33"/>
          <p:cNvSpPr/>
          <p:nvPr/>
        </p:nvSpPr>
        <p:spPr>
          <a:xfrm>
            <a:off x="5443835" y="2482155"/>
            <a:ext cx="6475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月額費用</a:t>
            </a:r>
            <a:endParaRPr lang="en-US" sz="800" dirty="0"/>
          </a:p>
        </p:txBody>
      </p:sp>
      <p:sp>
        <p:nvSpPr>
          <p:cNvPr id="43" name="Text 34"/>
          <p:cNvSpPr/>
          <p:nvPr/>
        </p:nvSpPr>
        <p:spPr>
          <a:xfrm>
            <a:off x="6071751" y="2482155"/>
            <a:ext cx="7124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5-8万円</a:t>
            </a:r>
            <a:endParaRPr lang="en-US" sz="800" dirty="0"/>
          </a:p>
        </p:txBody>
      </p:sp>
      <p:sp>
        <p:nvSpPr>
          <p:cNvPr id="44" name="Text 35"/>
          <p:cNvSpPr/>
          <p:nvPr/>
        </p:nvSpPr>
        <p:spPr>
          <a:xfrm>
            <a:off x="6770202" y="2482155"/>
            <a:ext cx="7124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4,980円〜</a:t>
            </a:r>
            <a:endParaRPr lang="en-US" sz="800" dirty="0"/>
          </a:p>
        </p:txBody>
      </p:sp>
      <p:sp>
        <p:nvSpPr>
          <p:cNvPr id="45" name="Shape 36"/>
          <p:cNvSpPr/>
          <p:nvPr/>
        </p:nvSpPr>
        <p:spPr>
          <a:xfrm>
            <a:off x="5443835" y="2934444"/>
            <a:ext cx="31319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5443835" y="2736056"/>
            <a:ext cx="6475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添削速度</a:t>
            </a:r>
            <a:endParaRPr lang="en-US" sz="800" dirty="0"/>
          </a:p>
        </p:txBody>
      </p:sp>
      <p:sp>
        <p:nvSpPr>
          <p:cNvPr id="47" name="Text 38"/>
          <p:cNvSpPr/>
          <p:nvPr/>
        </p:nvSpPr>
        <p:spPr>
          <a:xfrm>
            <a:off x="6071751" y="2736056"/>
            <a:ext cx="7124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3-7日</a:t>
            </a:r>
            <a:endParaRPr lang="en-US" sz="800" dirty="0"/>
          </a:p>
        </p:txBody>
      </p:sp>
      <p:sp>
        <p:nvSpPr>
          <p:cNvPr id="48" name="Text 39"/>
          <p:cNvSpPr/>
          <p:nvPr/>
        </p:nvSpPr>
        <p:spPr>
          <a:xfrm>
            <a:off x="6770202" y="2736056"/>
            <a:ext cx="7124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即時</a:t>
            </a:r>
            <a:endParaRPr lang="en-US" sz="800" dirty="0"/>
          </a:p>
        </p:txBody>
      </p:sp>
      <p:sp>
        <p:nvSpPr>
          <p:cNvPr id="49" name="Shape 40"/>
          <p:cNvSpPr/>
          <p:nvPr/>
        </p:nvSpPr>
        <p:spPr>
          <a:xfrm>
            <a:off x="5443835" y="3188345"/>
            <a:ext cx="31319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0" name="Text 41"/>
          <p:cNvSpPr/>
          <p:nvPr/>
        </p:nvSpPr>
        <p:spPr>
          <a:xfrm>
            <a:off x="5443835" y="2989957"/>
            <a:ext cx="6475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面接練習</a:t>
            </a:r>
            <a:endParaRPr lang="en-US" sz="800" dirty="0"/>
          </a:p>
        </p:txBody>
      </p:sp>
      <p:sp>
        <p:nvSpPr>
          <p:cNvPr id="51" name="Text 42"/>
          <p:cNvSpPr/>
          <p:nvPr/>
        </p:nvSpPr>
        <p:spPr>
          <a:xfrm>
            <a:off x="6071751" y="2989957"/>
            <a:ext cx="7124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週1回</a:t>
            </a:r>
            <a:endParaRPr lang="en-US" sz="800" dirty="0"/>
          </a:p>
        </p:txBody>
      </p:sp>
      <p:sp>
        <p:nvSpPr>
          <p:cNvPr id="52" name="Text 43"/>
          <p:cNvSpPr/>
          <p:nvPr/>
        </p:nvSpPr>
        <p:spPr>
          <a:xfrm>
            <a:off x="6770202" y="2989957"/>
            <a:ext cx="7124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24時間無制限</a:t>
            </a:r>
            <a:endParaRPr lang="en-US" sz="800" dirty="0"/>
          </a:p>
        </p:txBody>
      </p:sp>
      <p:sp>
        <p:nvSpPr>
          <p:cNvPr id="53" name="Shape 44"/>
          <p:cNvSpPr/>
          <p:nvPr/>
        </p:nvSpPr>
        <p:spPr>
          <a:xfrm>
            <a:off x="5443835" y="3442246"/>
            <a:ext cx="31319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4" name="Text 45"/>
          <p:cNvSpPr/>
          <p:nvPr/>
        </p:nvSpPr>
        <p:spPr>
          <a:xfrm>
            <a:off x="5443835" y="3243858"/>
            <a:ext cx="6475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対応大学</a:t>
            </a:r>
            <a:endParaRPr lang="en-US" sz="800" dirty="0"/>
          </a:p>
        </p:txBody>
      </p:sp>
      <p:sp>
        <p:nvSpPr>
          <p:cNvPr id="55" name="Text 46"/>
          <p:cNvSpPr/>
          <p:nvPr/>
        </p:nvSpPr>
        <p:spPr>
          <a:xfrm>
            <a:off x="6071751" y="3243858"/>
            <a:ext cx="7124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講師依存</a:t>
            </a:r>
            <a:endParaRPr lang="en-US" sz="800" dirty="0"/>
          </a:p>
        </p:txBody>
      </p:sp>
      <p:sp>
        <p:nvSpPr>
          <p:cNvPr id="56" name="Text 47"/>
          <p:cNvSpPr/>
          <p:nvPr/>
        </p:nvSpPr>
        <p:spPr>
          <a:xfrm>
            <a:off x="6770202" y="3243858"/>
            <a:ext cx="7124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189学部DB</a:t>
            </a:r>
            <a:endParaRPr lang="en-US" sz="800" dirty="0"/>
          </a:p>
        </p:txBody>
      </p:sp>
      <p:sp>
        <p:nvSpPr>
          <p:cNvPr id="57" name="Shape 48"/>
          <p:cNvSpPr/>
          <p:nvPr/>
        </p:nvSpPr>
        <p:spPr>
          <a:xfrm>
            <a:off x="5443835" y="3696146"/>
            <a:ext cx="31319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8" name="Text 49"/>
          <p:cNvSpPr/>
          <p:nvPr/>
        </p:nvSpPr>
        <p:spPr>
          <a:xfrm>
            <a:off x="5443835" y="3497759"/>
            <a:ext cx="6475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個別最適化</a:t>
            </a:r>
            <a:endParaRPr lang="en-US" sz="800" dirty="0"/>
          </a:p>
        </p:txBody>
      </p:sp>
      <p:sp>
        <p:nvSpPr>
          <p:cNvPr id="59" name="Text 50"/>
          <p:cNvSpPr/>
          <p:nvPr/>
        </p:nvSpPr>
        <p:spPr>
          <a:xfrm>
            <a:off x="6071751" y="3497759"/>
            <a:ext cx="7124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講師の力量</a:t>
            </a:r>
            <a:endParaRPr lang="en-US" sz="800" dirty="0"/>
          </a:p>
        </p:txBody>
      </p:sp>
      <p:sp>
        <p:nvSpPr>
          <p:cNvPr id="60" name="Text 51"/>
          <p:cNvSpPr/>
          <p:nvPr/>
        </p:nvSpPr>
        <p:spPr>
          <a:xfrm>
            <a:off x="6770202" y="3497759"/>
            <a:ext cx="7124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+ データ</a:t>
            </a:r>
            <a:endParaRPr lang="en-US" sz="800" dirty="0"/>
          </a:p>
        </p:txBody>
      </p:sp>
      <p:sp>
        <p:nvSpPr>
          <p:cNvPr id="61" name="Shape 52"/>
          <p:cNvSpPr/>
          <p:nvPr/>
        </p:nvSpPr>
        <p:spPr>
          <a:xfrm>
            <a:off x="5443835" y="3950047"/>
            <a:ext cx="31319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2" name="Text 53"/>
          <p:cNvSpPr/>
          <p:nvPr/>
        </p:nvSpPr>
        <p:spPr>
          <a:xfrm>
            <a:off x="5443835" y="3751659"/>
            <a:ext cx="6475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地方アクセス</a:t>
            </a:r>
            <a:endParaRPr lang="en-US" sz="800" dirty="0"/>
          </a:p>
        </p:txBody>
      </p:sp>
      <p:sp>
        <p:nvSpPr>
          <p:cNvPr id="63" name="Text 54"/>
          <p:cNvSpPr/>
          <p:nvPr/>
        </p:nvSpPr>
        <p:spPr>
          <a:xfrm>
            <a:off x="6071751" y="3751659"/>
            <a:ext cx="7124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都市部のみ</a:t>
            </a:r>
            <a:endParaRPr lang="en-US" sz="800" dirty="0"/>
          </a:p>
        </p:txBody>
      </p:sp>
      <p:sp>
        <p:nvSpPr>
          <p:cNvPr id="64" name="Text 55"/>
          <p:cNvSpPr/>
          <p:nvPr/>
        </p:nvSpPr>
        <p:spPr>
          <a:xfrm>
            <a:off x="6770202" y="3751659"/>
            <a:ext cx="7124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全国どこでも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igetaokito/Desktop/coach-pitch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99" y="152400"/>
            <a:ext cx="762000" cy="190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7950" y="482501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7950" y="828526"/>
            <a:ext cx="8290661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1600"/>
              </a:spcAft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生徒の学習フローに完全統合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1000" y="1526977"/>
            <a:ext cx="1407170" cy="1635919"/>
          </a:xfrm>
          <a:prstGeom prst="roundRect">
            <a:avLst>
              <a:gd name="adj" fmla="val 722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940448" y="1714202"/>
            <a:ext cx="2881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28377" y="2085677"/>
            <a:ext cx="71226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志望校選定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32092" y="2371427"/>
            <a:ext cx="1104986" cy="604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AIマッチングで最適な大学・学部を発見。189学部のデータから提案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889671" y="2211586"/>
            <a:ext cx="1361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124670" y="1526977"/>
            <a:ext cx="1407319" cy="1635919"/>
          </a:xfrm>
          <a:prstGeom prst="roundRect">
            <a:avLst>
              <a:gd name="adj" fmla="val 721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684267" y="1714202"/>
            <a:ext cx="2881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2472196" y="2085677"/>
            <a:ext cx="71226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小論文対策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275761" y="2371427"/>
            <a:ext cx="1105138" cy="604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画像OCRで手書き答案を即時添削。AP基準の4軸評価で弱点を特定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633490" y="2211586"/>
            <a:ext cx="1361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868489" y="1526977"/>
            <a:ext cx="1407170" cy="1635919"/>
          </a:xfrm>
          <a:prstGeom prst="roundRect">
            <a:avLst>
              <a:gd name="adj" fmla="val 722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427937" y="1714202"/>
            <a:ext cx="2881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4287213" y="2085677"/>
            <a:ext cx="56972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面接練習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019581" y="2371427"/>
            <a:ext cx="1104986" cy="453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大学別AIが本番さながらの質問。音声分析で話し方も改善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377160" y="2211586"/>
            <a:ext cx="1361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612160" y="1526977"/>
            <a:ext cx="1407170" cy="1635919"/>
          </a:xfrm>
          <a:prstGeom prst="roundRect">
            <a:avLst>
              <a:gd name="adj" fmla="val 722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171608" y="1714202"/>
            <a:ext cx="2881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030883" y="2085677"/>
            <a:ext cx="56972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書類作成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763252" y="2371427"/>
            <a:ext cx="1104986" cy="453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志望理由書・活動報告書をAIが添削。バージョン管理付き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7120830" y="2211586"/>
            <a:ext cx="1361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355830" y="1526977"/>
            <a:ext cx="1407170" cy="1635919"/>
          </a:xfrm>
          <a:prstGeom prst="roundRect">
            <a:avLst>
              <a:gd name="adj" fmla="val 722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7915278" y="1714202"/>
            <a:ext cx="2881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7916946" y="2085677"/>
            <a:ext cx="28493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合格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506922" y="2371427"/>
            <a:ext cx="1104986" cy="453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成長データと合格者比較で最終調整。スケジュール管理で漏れ防止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507950" y="3340596"/>
            <a:ext cx="1879550" cy="1003102"/>
          </a:xfrm>
          <a:prstGeom prst="roundRect">
            <a:avLst>
              <a:gd name="adj" fmla="val 7596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670410" y="3518297"/>
            <a:ext cx="155463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189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670410" y="3880247"/>
            <a:ext cx="15546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対応学部数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590651" y="3340596"/>
            <a:ext cx="1879699" cy="1003102"/>
          </a:xfrm>
          <a:prstGeom prst="roundRect">
            <a:avLst>
              <a:gd name="adj" fmla="val 7596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2753109" y="3518297"/>
            <a:ext cx="155478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2753109" y="3880247"/>
            <a:ext cx="155478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対応大学数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673501" y="3340596"/>
            <a:ext cx="1879699" cy="1003102"/>
          </a:xfrm>
          <a:prstGeom prst="roundRect">
            <a:avLst>
              <a:gd name="adj" fmla="val 7596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4835959" y="3518297"/>
            <a:ext cx="155478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37" name="Text 34"/>
          <p:cNvSpPr/>
          <p:nvPr/>
        </p:nvSpPr>
        <p:spPr>
          <a:xfrm>
            <a:off x="4835959" y="3880247"/>
            <a:ext cx="155478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面接モード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756350" y="3340596"/>
            <a:ext cx="1879699" cy="1003102"/>
          </a:xfrm>
          <a:prstGeom prst="roundRect">
            <a:avLst>
              <a:gd name="adj" fmla="val 7596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6918808" y="3518297"/>
            <a:ext cx="155478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</a:t>
            </a:r>
            <a:endParaRPr lang="en-US" sz="2200" dirty="0"/>
          </a:p>
        </p:txBody>
      </p:sp>
      <p:sp>
        <p:nvSpPr>
          <p:cNvPr id="40" name="Text 37"/>
          <p:cNvSpPr/>
          <p:nvPr/>
        </p:nvSpPr>
        <p:spPr>
          <a:xfrm>
            <a:off x="6918808" y="3880247"/>
            <a:ext cx="155478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利用可能時間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igetaokito/Desktop/coach-pitch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99" y="152400"/>
            <a:ext cx="762000" cy="190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7950" y="380851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 &amp; WHY NOW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7950" y="701427"/>
            <a:ext cx="82906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急成長市場 x 参入の最適タイミング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07950" y="1260128"/>
            <a:ext cx="3962400" cy="1018877"/>
          </a:xfrm>
          <a:prstGeom prst="roundRect">
            <a:avLst>
              <a:gd name="adj" fmla="val 7479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85651" y="1387078"/>
            <a:ext cx="36791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- 大学受験EdTech市場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85651" y="1555254"/>
            <a:ext cx="367913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5,000億円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85651" y="2009180"/>
            <a:ext cx="36791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日本の大学受験産業全体（塾・予備校・教材・EdTech）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07950" y="2355205"/>
            <a:ext cx="3962400" cy="901303"/>
          </a:xfrm>
          <a:prstGeom prst="roundRect">
            <a:avLst>
              <a:gd name="adj" fmla="val 8454"/>
            </a:avLst>
          </a:prstGeom>
          <a:solidFill>
            <a:srgbClr val="F0FDFA"/>
          </a:solidFill>
          <a:ln w="9525">
            <a:solidFill>
              <a:srgbClr val="14B8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95176" y="2466231"/>
            <a:ext cx="36597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- 総合型選抜対策市場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95176" y="2634407"/>
            <a:ext cx="36597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800億円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95176" y="3002607"/>
            <a:ext cx="36597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総合型選抜 対策塾・教材・オンライン指導（年率15%成長）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07950" y="3332708"/>
            <a:ext cx="3962400" cy="901303"/>
          </a:xfrm>
          <a:prstGeom prst="roundRect">
            <a:avLst>
              <a:gd name="adj" fmla="val 8454"/>
            </a:avLst>
          </a:prstGeom>
          <a:solidFill>
            <a:srgbClr val="F0FDFA"/>
          </a:solidFill>
          <a:ln w="9525">
            <a:solidFill>
              <a:srgbClr val="14B8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95176" y="3443734"/>
            <a:ext cx="36597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- AI EdTech初期獲得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95176" y="3611910"/>
            <a:ext cx="36597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50億円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95176" y="3980111"/>
            <a:ext cx="36597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AI×総合型選抜 SaaS。直接競合ゼロの未開拓セグメント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4673501" y="1260128"/>
            <a:ext cx="4041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市場トレンド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673501" y="2008584"/>
            <a:ext cx="396254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73501" y="1672679"/>
            <a:ext cx="3277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1.8x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071021" y="1672679"/>
            <a:ext cx="2336578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志願者数が5年で1.8倍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071021" y="1812875"/>
            <a:ext cx="2336578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2025年度は全入学者の約23%が総合型選抜経由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673501" y="2501503"/>
            <a:ext cx="396254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73501" y="2165598"/>
            <a:ext cx="3370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080099" y="2165598"/>
            <a:ext cx="2415213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文科省: 2030年までに定員の3割へ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080099" y="2305794"/>
            <a:ext cx="2415213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国策として総合型選抜を推進。市場拡大は構造的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4673501" y="2607766"/>
            <a:ext cx="3962549" cy="989409"/>
          </a:xfrm>
          <a:prstGeom prst="roundRect">
            <a:avLst>
              <a:gd name="adj" fmla="val 7702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851202" y="2734717"/>
            <a:ext cx="36792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 ― 3つの追い風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851202" y="2982367"/>
            <a:ext cx="11573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政策の追い風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851202" y="3150543"/>
            <a:ext cx="1157359" cy="319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文科省が総合型選抜の定員枠を毎年拡大。制度変更が市場を創出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6087368" y="2982367"/>
            <a:ext cx="11575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AI技術の成熟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6087368" y="3150543"/>
            <a:ext cx="1157511" cy="319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Claude等のLLMが添削・面接品質をプロ講師水準に到達させた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7323683" y="2982367"/>
            <a:ext cx="11573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オンライン学習の定着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7323683" y="3150543"/>
            <a:ext cx="1157359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コロナ後、高校生のオンライン学習受容率が急上昇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igetaokito/Desktop/coach-pitch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99" y="152400"/>
            <a:ext cx="762000" cy="190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7950" y="406301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7950" y="726877"/>
            <a:ext cx="82906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高粗利SaaS + 人的付加価値のハイブリッド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07950" y="1285577"/>
            <a:ext cx="3962400" cy="690563"/>
          </a:xfrm>
          <a:prstGeom prst="roundRect">
            <a:avLst>
              <a:gd name="adj" fmla="val 1471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69875" y="1425178"/>
            <a:ext cx="665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プラン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397746" y="1396603"/>
            <a:ext cx="92889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4,980円/月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69875" y="1733104"/>
            <a:ext cx="3711321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小論文AI添削 + AI模擬面接 + 志望校マッチング + MBTI診断 + 成長トラッキング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07950" y="2052340"/>
            <a:ext cx="3962400" cy="790873"/>
          </a:xfrm>
          <a:prstGeom prst="roundRect">
            <a:avLst>
              <a:gd name="adj" fmla="val 12847"/>
            </a:avLst>
          </a:prstGeom>
          <a:solidFill>
            <a:srgbClr val="0F172A"/>
          </a:solidFill>
          <a:ln w="19050">
            <a:solidFill>
              <a:srgbClr val="14B8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79400" y="2201466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コーチプラン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670000" y="2223790"/>
            <a:ext cx="505271" cy="183952"/>
          </a:xfrm>
          <a:prstGeom prst="roundRect">
            <a:avLst>
              <a:gd name="adj" fmla="val 20712"/>
            </a:avLst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746200" y="2249091"/>
            <a:ext cx="3599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おすすめ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3282255" y="2172891"/>
            <a:ext cx="103697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19,800円/月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79400" y="2458641"/>
            <a:ext cx="369189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AIプラン全機能 + 月1回オンライン面談(50分) + 大学生コーチによる個別サポート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07950" y="2919413"/>
            <a:ext cx="3962400" cy="822573"/>
          </a:xfrm>
          <a:prstGeom prst="roundRect">
            <a:avLst>
              <a:gd name="adj" fmla="val 12352"/>
            </a:avLst>
          </a:prstGeom>
          <a:solidFill>
            <a:srgbClr val="FFFBEB"/>
          </a:solidFill>
          <a:ln w="9525">
            <a:solidFill>
              <a:srgbClr val="FDE6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69875" y="3059013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出願書類添削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641080" y="3030438"/>
            <a:ext cx="6806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9,900円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69875" y="3366939"/>
            <a:ext cx="3711321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買い切りアドオン。志望理由書・活動報告書をプロが添削。どちらのプランにも追加可能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07950" y="3868936"/>
            <a:ext cx="3962400" cy="581025"/>
          </a:xfrm>
          <a:prstGeom prst="roundRect">
            <a:avLst>
              <a:gd name="adj" fmla="val 8743"/>
            </a:avLst>
          </a:prstGeom>
          <a:solidFill>
            <a:srgbClr val="F0FD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34901" y="3945136"/>
            <a:ext cx="37826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粗利率 85%+</a:t>
            </a:r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(AIプラン) / </a:t>
            </a:r>
            <a:pPr algn="l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60%+</a:t>
            </a:r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(コーチプラン)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34901" y="4088011"/>
            <a:ext cx="378266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AIプランは限界費用ほぼゼロ。コーチプランは大学生講師の時給2,000円で高収益を維持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673501" y="1285577"/>
            <a:ext cx="4041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売上シミュレーション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673501" y="1571327"/>
            <a:ext cx="3962549" cy="231577"/>
          </a:xfrm>
          <a:prstGeom prst="roundRect">
            <a:avLst>
              <a:gd name="adj" fmla="val 21937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555848" y="1634728"/>
            <a:ext cx="67355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6216198" y="1634728"/>
            <a:ext cx="67355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6876548" y="1634728"/>
            <a:ext cx="67355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4673501" y="1802904"/>
            <a:ext cx="3962549" cy="22860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5"/>
          <p:cNvSpPr/>
          <p:nvPr/>
        </p:nvSpPr>
        <p:spPr>
          <a:xfrm>
            <a:off x="4673501" y="2026741"/>
            <a:ext cx="396254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64611" y="1841004"/>
            <a:ext cx="9067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AIプラン会員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5555848" y="1841004"/>
            <a:ext cx="673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400人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6216198" y="1841004"/>
            <a:ext cx="673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2,000人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6876548" y="1841004"/>
            <a:ext cx="673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6,000人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4673501" y="2031504"/>
            <a:ext cx="3962549" cy="22860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1"/>
          <p:cNvSpPr/>
          <p:nvPr/>
        </p:nvSpPr>
        <p:spPr>
          <a:xfrm>
            <a:off x="4673501" y="2255341"/>
            <a:ext cx="396254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664611" y="2069604"/>
            <a:ext cx="9067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コーチプラン会員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5555848" y="2069604"/>
            <a:ext cx="673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100人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6216198" y="2069604"/>
            <a:ext cx="673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1,000人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6876548" y="2069604"/>
            <a:ext cx="673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4,000人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4673501" y="2260104"/>
            <a:ext cx="3962549" cy="219075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7"/>
          <p:cNvSpPr/>
          <p:nvPr/>
        </p:nvSpPr>
        <p:spPr>
          <a:xfrm>
            <a:off x="4673501" y="2474416"/>
            <a:ext cx="396254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664611" y="2298204"/>
            <a:ext cx="9067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書類添削購入率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5555848" y="2298204"/>
            <a:ext cx="67355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6216198" y="2298204"/>
            <a:ext cx="67355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6876548" y="2298204"/>
            <a:ext cx="67355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4673501" y="2479179"/>
            <a:ext cx="3962549" cy="22860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43"/>
          <p:cNvSpPr/>
          <p:nvPr/>
        </p:nvSpPr>
        <p:spPr>
          <a:xfrm>
            <a:off x="4673501" y="2703016"/>
            <a:ext cx="396254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664611" y="2517279"/>
            <a:ext cx="9067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Blended ARPU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5555848" y="2517279"/>
            <a:ext cx="673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8,940円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6216198" y="2517279"/>
            <a:ext cx="673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11,900円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6876548" y="2517279"/>
            <a:ext cx="673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13,880円</a:t>
            </a:r>
            <a:endParaRPr lang="en-US" sz="750" dirty="0"/>
          </a:p>
        </p:txBody>
      </p:sp>
      <p:sp>
        <p:nvSpPr>
          <p:cNvPr id="51" name="Text 48"/>
          <p:cNvSpPr/>
          <p:nvPr/>
        </p:nvSpPr>
        <p:spPr>
          <a:xfrm>
            <a:off x="4673501" y="2707779"/>
            <a:ext cx="3962549" cy="247650"/>
          </a:xfrm>
          <a:prstGeom prst="rect">
            <a:avLst/>
          </a:prstGeom>
          <a:solidFill>
            <a:srgbClr val="F0FD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Shape 49"/>
          <p:cNvSpPr/>
          <p:nvPr/>
        </p:nvSpPr>
        <p:spPr>
          <a:xfrm>
            <a:off x="4673501" y="2950666"/>
            <a:ext cx="3962549" cy="0"/>
          </a:xfrm>
          <a:prstGeom prst="line">
            <a:avLst/>
          </a:prstGeom>
          <a:noFill/>
          <a:ln w="9525">
            <a:solidFill>
              <a:srgbClr val="CCFBF1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664611" y="2745879"/>
            <a:ext cx="9067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</a:t>
            </a:r>
            <a:endParaRPr lang="en-US" sz="700" dirty="0"/>
          </a:p>
        </p:txBody>
      </p:sp>
      <p:sp>
        <p:nvSpPr>
          <p:cNvPr id="54" name="Text 51"/>
          <p:cNvSpPr/>
          <p:nvPr/>
        </p:nvSpPr>
        <p:spPr>
          <a:xfrm>
            <a:off x="5555848" y="2745879"/>
            <a:ext cx="67355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400万円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6216198" y="2745879"/>
            <a:ext cx="67355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3,000万円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6876548" y="2745879"/>
            <a:ext cx="67355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1.1億円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4673501" y="2955429"/>
            <a:ext cx="3962549" cy="247650"/>
          </a:xfrm>
          <a:prstGeom prst="rect">
            <a:avLst/>
          </a:prstGeom>
          <a:solidFill>
            <a:srgbClr val="F0FD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Shape 55"/>
          <p:cNvSpPr/>
          <p:nvPr/>
        </p:nvSpPr>
        <p:spPr>
          <a:xfrm>
            <a:off x="4673501" y="3198316"/>
            <a:ext cx="3962549" cy="0"/>
          </a:xfrm>
          <a:prstGeom prst="line">
            <a:avLst/>
          </a:prstGeom>
          <a:noFill/>
          <a:ln w="9525">
            <a:solidFill>
              <a:srgbClr val="CCFBF1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664611" y="2993529"/>
            <a:ext cx="9067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</a:t>
            </a:r>
            <a:endParaRPr lang="en-US" sz="700" dirty="0"/>
          </a:p>
        </p:txBody>
      </p:sp>
      <p:sp>
        <p:nvSpPr>
          <p:cNvPr id="60" name="Text 57"/>
          <p:cNvSpPr/>
          <p:nvPr/>
        </p:nvSpPr>
        <p:spPr>
          <a:xfrm>
            <a:off x="5555848" y="2993529"/>
            <a:ext cx="67355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4,800万円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6216198" y="2993529"/>
            <a:ext cx="67355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3.6億円</a:t>
            </a:r>
            <a:endParaRPr lang="en-US" sz="850" dirty="0"/>
          </a:p>
        </p:txBody>
      </p:sp>
      <p:sp>
        <p:nvSpPr>
          <p:cNvPr id="62" name="Text 59"/>
          <p:cNvSpPr/>
          <p:nvPr/>
        </p:nvSpPr>
        <p:spPr>
          <a:xfrm>
            <a:off x="6876548" y="2993529"/>
            <a:ext cx="67355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13.2億円</a:t>
            </a:r>
            <a:endParaRPr lang="en-US" sz="850" dirty="0"/>
          </a:p>
        </p:txBody>
      </p:sp>
      <p:sp>
        <p:nvSpPr>
          <p:cNvPr id="63" name="Text 60"/>
          <p:cNvSpPr/>
          <p:nvPr/>
        </p:nvSpPr>
        <p:spPr>
          <a:xfrm>
            <a:off x="4673501" y="3304580"/>
            <a:ext cx="3962549" cy="853976"/>
          </a:xfrm>
          <a:prstGeom prst="roundRect">
            <a:avLst>
              <a:gd name="adj" fmla="val 8923"/>
            </a:avLst>
          </a:prstGeom>
          <a:solidFill>
            <a:srgbClr val="F0FD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1"/>
          <p:cNvSpPr/>
          <p:nvPr/>
        </p:nvSpPr>
        <p:spPr>
          <a:xfrm>
            <a:off x="4775002" y="3380780"/>
            <a:ext cx="38347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ユニットエコノミクス</a:t>
            </a:r>
            <a:endParaRPr lang="en-US" sz="900" dirty="0"/>
          </a:p>
        </p:txBody>
      </p:sp>
      <p:sp>
        <p:nvSpPr>
          <p:cNvPr id="65" name="Text 62"/>
          <p:cNvSpPr/>
          <p:nvPr/>
        </p:nvSpPr>
        <p:spPr>
          <a:xfrm>
            <a:off x="4763147" y="3602980"/>
            <a:ext cx="120912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2,500円</a:t>
            </a:r>
            <a:endParaRPr lang="en-US" sz="1400" dirty="0"/>
          </a:p>
        </p:txBody>
      </p:sp>
      <p:sp>
        <p:nvSpPr>
          <p:cNvPr id="66" name="Text 63"/>
          <p:cNvSpPr/>
          <p:nvPr/>
        </p:nvSpPr>
        <p:spPr>
          <a:xfrm>
            <a:off x="4763147" y="3860155"/>
            <a:ext cx="120912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4763147" y="3968055"/>
            <a:ext cx="12091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 + 口コミ中心</a:t>
            </a:r>
            <a:endParaRPr lang="en-US" sz="600" dirty="0"/>
          </a:p>
        </p:txBody>
      </p:sp>
      <p:sp>
        <p:nvSpPr>
          <p:cNvPr id="68" name="Text 65"/>
          <p:cNvSpPr/>
          <p:nvPr/>
        </p:nvSpPr>
        <p:spPr>
          <a:xfrm>
            <a:off x="6050063" y="3602980"/>
            <a:ext cx="120927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85,000円</a:t>
            </a:r>
            <a:endParaRPr lang="en-US" sz="1400" dirty="0"/>
          </a:p>
        </p:txBody>
      </p:sp>
      <p:sp>
        <p:nvSpPr>
          <p:cNvPr id="69" name="Text 66"/>
          <p:cNvSpPr/>
          <p:nvPr/>
        </p:nvSpPr>
        <p:spPr>
          <a:xfrm>
            <a:off x="6050063" y="3860155"/>
            <a:ext cx="120927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</a:t>
            </a:r>
            <a:endParaRPr lang="en-US" sz="700" dirty="0"/>
          </a:p>
        </p:txBody>
      </p:sp>
      <p:sp>
        <p:nvSpPr>
          <p:cNvPr id="70" name="Text 67"/>
          <p:cNvSpPr/>
          <p:nvPr/>
        </p:nvSpPr>
        <p:spPr>
          <a:xfrm>
            <a:off x="6050063" y="3968055"/>
            <a:ext cx="12092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平均8.5ヶ月継続</a:t>
            </a:r>
            <a:endParaRPr lang="en-US" sz="600" dirty="0"/>
          </a:p>
        </p:txBody>
      </p:sp>
      <p:sp>
        <p:nvSpPr>
          <p:cNvPr id="71" name="Text 68"/>
          <p:cNvSpPr/>
          <p:nvPr/>
        </p:nvSpPr>
        <p:spPr>
          <a:xfrm>
            <a:off x="7337128" y="3602980"/>
            <a:ext cx="120927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34x</a:t>
            </a:r>
            <a:endParaRPr lang="en-US" sz="1400" dirty="0"/>
          </a:p>
        </p:txBody>
      </p:sp>
      <p:sp>
        <p:nvSpPr>
          <p:cNvPr id="72" name="Text 69"/>
          <p:cNvSpPr/>
          <p:nvPr/>
        </p:nvSpPr>
        <p:spPr>
          <a:xfrm>
            <a:off x="7337128" y="3812530"/>
            <a:ext cx="120927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LTV/CAC</a:t>
            </a:r>
            <a:endParaRPr lang="en-US" sz="700" dirty="0"/>
          </a:p>
        </p:txBody>
      </p:sp>
      <p:sp>
        <p:nvSpPr>
          <p:cNvPr id="73" name="Text 70"/>
          <p:cNvSpPr/>
          <p:nvPr/>
        </p:nvSpPr>
        <p:spPr>
          <a:xfrm>
            <a:off x="7337128" y="3920430"/>
            <a:ext cx="12092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健全水準の11倍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igetaokito/Desktop/coach-pitch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99" y="152400"/>
            <a:ext cx="762000" cy="190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7950" y="355550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7950" y="650677"/>
            <a:ext cx="82906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プロダクト完成済み ― ローンチ直前フェーズ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07950" y="1180802"/>
            <a:ext cx="40547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開発KPI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7950" y="1482328"/>
            <a:ext cx="3975199" cy="460325"/>
          </a:xfrm>
          <a:prstGeom prst="roundRect">
            <a:avLst>
              <a:gd name="adj" fmla="val 16554"/>
            </a:avLst>
          </a:prstGeom>
          <a:solidFill>
            <a:srgbClr val="F0FDFA"/>
          </a:solidFill>
          <a:ln w="9525">
            <a:solidFill>
              <a:srgbClr val="CCFBF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18976" y="1593354"/>
            <a:ext cx="34581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189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59507" y="1568053"/>
            <a:ext cx="33788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対応学部 (23大学)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59507" y="1723579"/>
            <a:ext cx="33788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旧帝大・早慶・MARCH・関関同立・産近甲龍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507950" y="2018854"/>
            <a:ext cx="3975199" cy="460325"/>
          </a:xfrm>
          <a:prstGeom prst="roundRect">
            <a:avLst>
              <a:gd name="adj" fmla="val 16554"/>
            </a:avLst>
          </a:prstGeom>
          <a:solidFill>
            <a:srgbClr val="F0FDFA"/>
          </a:solidFill>
          <a:ln w="9525">
            <a:solidFill>
              <a:srgbClr val="CCFBF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18976" y="2129879"/>
            <a:ext cx="1153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33586" y="2104579"/>
            <a:ext cx="36093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コア機能 全実装完了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33586" y="2260104"/>
            <a:ext cx="36093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添削・面接・マッチング・書類・MBTI・トラッキング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507950" y="2555379"/>
            <a:ext cx="3975199" cy="460325"/>
          </a:xfrm>
          <a:prstGeom prst="roundRect">
            <a:avLst>
              <a:gd name="adj" fmla="val 16554"/>
            </a:avLst>
          </a:prstGeom>
          <a:solidFill>
            <a:srgbClr val="F0FDFA"/>
          </a:solidFill>
          <a:ln w="9525">
            <a:solidFill>
              <a:srgbClr val="CCFBF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18976" y="2666405"/>
            <a:ext cx="25351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69020" y="2641104"/>
            <a:ext cx="34711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開発フェーズ完了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969020" y="2796629"/>
            <a:ext cx="34711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管理者ダッシュボード・ロールベースアクセス制御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4660850" y="1180802"/>
            <a:ext cx="40547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市場検証シグナル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660850" y="1482328"/>
            <a:ext cx="3975199" cy="433536"/>
          </a:xfrm>
          <a:prstGeom prst="roundRect">
            <a:avLst>
              <a:gd name="adj" fmla="val 1757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771876" y="1594247"/>
            <a:ext cx="3629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229225" y="1568053"/>
            <a:ext cx="33617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総合型選抜 入学者比率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229225" y="1723579"/>
            <a:ext cx="336171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100"/>
              </a:spcBef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5年前13%から急増。対策需要が顕在化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4660850" y="1992064"/>
            <a:ext cx="3975199" cy="433536"/>
          </a:xfrm>
          <a:prstGeom prst="roundRect">
            <a:avLst>
              <a:gd name="adj" fmla="val 1757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771876" y="2080171"/>
            <a:ext cx="28220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0社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150048" y="2077789"/>
            <a:ext cx="34424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AI特化の直接競合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150048" y="2233315"/>
            <a:ext cx="344247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100"/>
              </a:spcBef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既存は人的指導の塾のみ。AI SaaSは未開拓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4660850" y="2501801"/>
            <a:ext cx="3975199" cy="433536"/>
          </a:xfrm>
          <a:prstGeom prst="roundRect">
            <a:avLst>
              <a:gd name="adj" fmla="val 1757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771876" y="2613720"/>
            <a:ext cx="3025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10x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169991" y="2587526"/>
            <a:ext cx="34221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価格破壊ポテンシャル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169991" y="2743051"/>
            <a:ext cx="342213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100"/>
              </a:spcBef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既存塾 年50-100万 → CoachFor 年6万円〜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507950" y="4178647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開発マイルストーン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07950" y="4429423"/>
            <a:ext cx="2658517" cy="409277"/>
          </a:xfrm>
          <a:prstGeom prst="rect">
            <a:avLst/>
          </a:prstGeom>
          <a:solidFill>
            <a:srgbClr val="F0FD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0"/>
          <p:cNvSpPr/>
          <p:nvPr/>
        </p:nvSpPr>
        <p:spPr>
          <a:xfrm>
            <a:off x="507950" y="4448473"/>
            <a:ext cx="2658517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84150" y="4530923"/>
            <a:ext cx="255623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1-2 ✓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584150" y="4660999"/>
            <a:ext cx="25562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200"/>
              </a:spcBef>
              <a:buNone/>
            </a:pPr>
            <a:r>
              <a:rPr lang="en-US" sz="7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認証・大学DB・添削・AI面接・マッチング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242667" y="4429423"/>
            <a:ext cx="2658666" cy="409277"/>
          </a:xfrm>
          <a:prstGeom prst="rect">
            <a:avLst/>
          </a:prstGeom>
          <a:solidFill>
            <a:srgbClr val="F0FD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4"/>
          <p:cNvSpPr/>
          <p:nvPr/>
        </p:nvSpPr>
        <p:spPr>
          <a:xfrm>
            <a:off x="3242667" y="4448473"/>
            <a:ext cx="2658666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318867" y="4530923"/>
            <a:ext cx="25563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3-5 ✓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3318867" y="4660999"/>
            <a:ext cx="25563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200"/>
              </a:spcBef>
              <a:buNone/>
            </a:pPr>
            <a:r>
              <a:rPr lang="en-US" sz="7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音声面接・書類添削・MBTI・管理機能</a:t>
            </a:r>
            <a:endParaRPr lang="en-US" sz="750" dirty="0"/>
          </a:p>
        </p:txBody>
      </p:sp>
      <p:sp>
        <p:nvSpPr>
          <p:cNvPr id="40" name="Shape 37"/>
          <p:cNvSpPr/>
          <p:nvPr/>
        </p:nvSpPr>
        <p:spPr>
          <a:xfrm>
            <a:off x="5977533" y="4448473"/>
            <a:ext cx="2658517" cy="0"/>
          </a:xfrm>
          <a:prstGeom prst="line">
            <a:avLst/>
          </a:prstGeom>
          <a:noFill/>
          <a:ln w="38100">
            <a:solidFill>
              <a:srgbClr val="E2E8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053733" y="4530923"/>
            <a:ext cx="255623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→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6053733" y="4651474"/>
            <a:ext cx="25562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2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BigQuery・Stripe決済・ベータ・ローンチ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igetaokito/Desktop/coach-pitch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99" y="152400"/>
            <a:ext cx="762000" cy="190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7950" y="406301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7950" y="726877"/>
            <a:ext cx="82906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最新AI技術 x 堅牢なインフラ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07950" y="1311027"/>
            <a:ext cx="40158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技術スタック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07950" y="1596777"/>
            <a:ext cx="677168" cy="241102"/>
          </a:xfrm>
          <a:prstGeom prst="roundRect">
            <a:avLst>
              <a:gd name="adj" fmla="val 21070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09451" y="1660178"/>
            <a:ext cx="4836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248519" y="1596777"/>
            <a:ext cx="620762" cy="241102"/>
          </a:xfrm>
          <a:prstGeom prst="roundRect">
            <a:avLst>
              <a:gd name="adj" fmla="val 21070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350020" y="1660178"/>
            <a:ext cx="42611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932682" y="1596777"/>
            <a:ext cx="720328" cy="241102"/>
          </a:xfrm>
          <a:prstGeom prst="roundRect">
            <a:avLst>
              <a:gd name="adj" fmla="val 21070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034183" y="1660178"/>
            <a:ext cx="5276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07950" y="1901279"/>
            <a:ext cx="735360" cy="241102"/>
          </a:xfrm>
          <a:prstGeom prst="roundRect">
            <a:avLst>
              <a:gd name="adj" fmla="val 21070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09451" y="1964680"/>
            <a:ext cx="5430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API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306711" y="1901279"/>
            <a:ext cx="992832" cy="241102"/>
          </a:xfrm>
          <a:prstGeom prst="roundRect">
            <a:avLst>
              <a:gd name="adj" fmla="val 21070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1408212" y="1964680"/>
            <a:ext cx="80562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Whisper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362944" y="1901279"/>
            <a:ext cx="394841" cy="241102"/>
          </a:xfrm>
          <a:prstGeom prst="roundRect">
            <a:avLst>
              <a:gd name="adj" fmla="val 21070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464445" y="1964680"/>
            <a:ext cx="1956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07950" y="2205782"/>
            <a:ext cx="848618" cy="260152"/>
          </a:xfrm>
          <a:prstGeom prst="roundRect">
            <a:avLst>
              <a:gd name="adj" fmla="val 19527"/>
            </a:avLst>
          </a:prstGeom>
          <a:solidFill>
            <a:srgbClr val="F0FDFA"/>
          </a:solidFill>
          <a:ln w="9525">
            <a:solidFill>
              <a:srgbClr val="14B8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18976" y="2278707"/>
            <a:ext cx="6390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Auth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419969" y="2205782"/>
            <a:ext cx="622697" cy="260152"/>
          </a:xfrm>
          <a:prstGeom prst="roundRect">
            <a:avLst>
              <a:gd name="adj" fmla="val 19527"/>
            </a:avLst>
          </a:prstGeom>
          <a:solidFill>
            <a:srgbClr val="F0FDFA"/>
          </a:solidFill>
          <a:ln w="9525">
            <a:solidFill>
              <a:srgbClr val="14B8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1530995" y="2278707"/>
            <a:ext cx="4086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Firestore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2106067" y="2205782"/>
            <a:ext cx="871240" cy="260152"/>
          </a:xfrm>
          <a:prstGeom prst="roundRect">
            <a:avLst>
              <a:gd name="adj" fmla="val 19527"/>
            </a:avLst>
          </a:prstGeom>
          <a:solidFill>
            <a:srgbClr val="F0FDFA"/>
          </a:solidFill>
          <a:ln w="9525">
            <a:solidFill>
              <a:srgbClr val="14B8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2217093" y="2278707"/>
            <a:ext cx="6621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Storage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07950" y="2529334"/>
            <a:ext cx="645319" cy="260152"/>
          </a:xfrm>
          <a:prstGeom prst="roundRect">
            <a:avLst>
              <a:gd name="adj" fmla="val 19527"/>
            </a:avLst>
          </a:prstGeom>
          <a:solidFill>
            <a:srgbClr val="F0FDFA"/>
          </a:solidFill>
          <a:ln w="9525">
            <a:solidFill>
              <a:srgbClr val="14B8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18976" y="2602260"/>
            <a:ext cx="4317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BigQuery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216670" y="2529334"/>
            <a:ext cx="820341" cy="260152"/>
          </a:xfrm>
          <a:prstGeom prst="roundRect">
            <a:avLst>
              <a:gd name="adj" fmla="val 19527"/>
            </a:avLst>
          </a:prstGeom>
          <a:solidFill>
            <a:srgbClr val="F0FDFA"/>
          </a:solidFill>
          <a:ln w="9525">
            <a:solidFill>
              <a:srgbClr val="14B8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1327696" y="2602260"/>
            <a:ext cx="6102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2100411" y="2529334"/>
            <a:ext cx="449610" cy="260152"/>
          </a:xfrm>
          <a:prstGeom prst="roundRect">
            <a:avLst>
              <a:gd name="adj" fmla="val 19527"/>
            </a:avLst>
          </a:prstGeom>
          <a:solidFill>
            <a:srgbClr val="F0FDFA"/>
          </a:solidFill>
          <a:ln w="9525">
            <a:solidFill>
              <a:srgbClr val="14B8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2211437" y="2602260"/>
            <a:ext cx="2321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07950" y="2852886"/>
            <a:ext cx="897582" cy="260152"/>
          </a:xfrm>
          <a:prstGeom prst="roundRect">
            <a:avLst>
              <a:gd name="adj" fmla="val 19527"/>
            </a:avLst>
          </a:prstGeom>
          <a:solidFill>
            <a:srgbClr val="F0FDFA"/>
          </a:solidFill>
          <a:ln w="9525">
            <a:solidFill>
              <a:srgbClr val="14B8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618976" y="2925812"/>
            <a:ext cx="6890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Audio API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1468934" y="2852886"/>
            <a:ext cx="628352" cy="260152"/>
          </a:xfrm>
          <a:prstGeom prst="roundRect">
            <a:avLst>
              <a:gd name="adj" fmla="val 19527"/>
            </a:avLst>
          </a:prstGeom>
          <a:solidFill>
            <a:srgbClr val="F0FDFA"/>
          </a:solidFill>
          <a:ln w="9525">
            <a:solidFill>
              <a:srgbClr val="14B8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1579959" y="2925812"/>
            <a:ext cx="41442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Recharts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2160687" y="2852886"/>
            <a:ext cx="656779" cy="260152"/>
          </a:xfrm>
          <a:prstGeom prst="roundRect">
            <a:avLst>
              <a:gd name="adj" fmla="val 19527"/>
            </a:avLst>
          </a:prstGeom>
          <a:solidFill>
            <a:srgbClr val="F0FDFA"/>
          </a:solidFill>
          <a:ln w="9525">
            <a:solidFill>
              <a:srgbClr val="14B8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2271713" y="2925812"/>
            <a:ext cx="44342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shadcn/ui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4698950" y="1311027"/>
            <a:ext cx="40158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技術的差別化（Moat）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4698950" y="2097732"/>
            <a:ext cx="3937099" cy="0"/>
          </a:xfrm>
          <a:prstGeom prst="line">
            <a:avLst/>
          </a:prstGeom>
          <a:noFill/>
          <a:ln w="9525">
            <a:solidFill>
              <a:srgbClr val="F1F5F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698950" y="1710928"/>
            <a:ext cx="1729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4944666" y="1710928"/>
            <a:ext cx="376521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大学別AP連動プロンプト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4944666" y="1907679"/>
            <a:ext cx="3765212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spcBef>
                <a:spcPts val="200"/>
              </a:spcBef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189学部のAPをAIに動的注入。大学特化型フィードバック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4698950" y="2628900"/>
            <a:ext cx="3937099" cy="0"/>
          </a:xfrm>
          <a:prstGeom prst="line">
            <a:avLst/>
          </a:prstGeom>
          <a:noFill/>
          <a:ln w="9525">
            <a:solidFill>
              <a:srgbClr val="F1F5F9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698950" y="2242096"/>
            <a:ext cx="1729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4944666" y="2242096"/>
            <a:ext cx="376521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手書きOCR + AI添削パイプライン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4944666" y="2438846"/>
            <a:ext cx="3765212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spcBef>
                <a:spcPts val="200"/>
              </a:spcBef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VisionでOCR認識。確認ステップ付きで精度担保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4698950" y="3160068"/>
            <a:ext cx="3937099" cy="0"/>
          </a:xfrm>
          <a:prstGeom prst="line">
            <a:avLst/>
          </a:prstGeom>
          <a:noFill/>
          <a:ln w="9525">
            <a:solidFill>
              <a:srgbClr val="F1F5F9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698950" y="2773263"/>
            <a:ext cx="1729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4944666" y="2773263"/>
            <a:ext cx="376521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音声面接 + リアルタイム話し方分析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4944666" y="2970014"/>
            <a:ext cx="3765212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spcBef>
                <a:spcPts val="200"/>
              </a:spcBef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Audio APIで話速・フィラー・声量を定量計測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4698950" y="3691235"/>
            <a:ext cx="3937099" cy="0"/>
          </a:xfrm>
          <a:prstGeom prst="line">
            <a:avLst/>
          </a:prstGeom>
          <a:noFill/>
          <a:ln w="9525">
            <a:solidFill>
              <a:srgbClr val="F1F5F9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4698950" y="3304431"/>
            <a:ext cx="1729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4944666" y="3304431"/>
            <a:ext cx="376521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弱点自動追跡 + 成長エンジン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4944666" y="3501182"/>
            <a:ext cx="3765212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spcBef>
                <a:spcPts val="200"/>
              </a:spcBef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添削・面接結果から弱点を自動検出しリマインド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507950" y="4575423"/>
            <a:ext cx="8128099" cy="364927"/>
          </a:xfrm>
          <a:prstGeom prst="roundRect">
            <a:avLst>
              <a:gd name="adj" fmla="val 208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643598" y="4686449"/>
            <a:ext cx="78568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全機能Phase 1-5実装完了 / Superadmin管理機能 / ロールベースアクセス制御 / PWA対応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igetaokito/Desktop/coach-pitch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99" y="152400"/>
            <a:ext cx="762000" cy="190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7950" y="406301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7950" y="726877"/>
            <a:ext cx="82906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KPI連動型 成長ロードマップ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81000" y="1336477"/>
            <a:ext cx="2005013" cy="2759422"/>
          </a:xfrm>
          <a:prstGeom prst="roundRect">
            <a:avLst>
              <a:gd name="adj" fmla="val 5067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33400" y="1488877"/>
            <a:ext cx="17342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33400" y="1653927"/>
            <a:ext cx="17342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ローンチ準備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33400" y="1939677"/>
            <a:ext cx="173421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Q2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33400" y="2120652"/>
            <a:ext cx="1700213" cy="642342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04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Stripe決済統合</a:t>
            </a:r>
            <a:endParaRPr lang="en-US" sz="800" dirty="0"/>
          </a:p>
          <a:p>
            <a:pPr algn="l" marL="76200" indent="-76200">
              <a:lnSpc>
                <a:spcPts val="104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BigQuery分析基盤</a:t>
            </a:r>
            <a:endParaRPr lang="en-US" sz="800" dirty="0"/>
          </a:p>
          <a:p>
            <a:pPr algn="l" marL="76200" indent="-76200">
              <a:lnSpc>
                <a:spcPts val="104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ベータテスト(100人)</a:t>
            </a:r>
            <a:endParaRPr lang="en-US" sz="800" dirty="0"/>
          </a:p>
          <a:p>
            <a:pPr algn="l" marL="76200" indent="-76200">
              <a:lnSpc>
                <a:spcPts val="104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対応大学50校へ拡大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33400" y="3513386"/>
            <a:ext cx="1700213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3400" y="3568898"/>
            <a:ext cx="17342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100人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33400" y="3810149"/>
            <a:ext cx="1734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ベータテスター獲得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2487513" y="1336477"/>
            <a:ext cx="2024211" cy="2759422"/>
          </a:xfrm>
          <a:prstGeom prst="roundRect">
            <a:avLst>
              <a:gd name="adj" fmla="val 50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649438" y="1498402"/>
            <a:ext cx="17343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A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649438" y="1663452"/>
            <a:ext cx="173436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正式ローンチ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649438" y="1949202"/>
            <a:ext cx="173436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Q3-Q4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2649438" y="2130177"/>
            <a:ext cx="1700361" cy="642342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04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B2Cサービス開始</a:t>
            </a:r>
            <a:endParaRPr lang="en-US" sz="800" dirty="0"/>
          </a:p>
          <a:p>
            <a:pPr algn="l" marL="76200" indent="-76200">
              <a:lnSpc>
                <a:spcPts val="104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コーチ(大学生)採用開始</a:t>
            </a:r>
            <a:endParaRPr lang="en-US" sz="800" dirty="0"/>
          </a:p>
          <a:p>
            <a:pPr algn="l" marL="76200" indent="-76200">
              <a:lnSpc>
                <a:spcPts val="104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SNSマーケティング</a:t>
            </a:r>
            <a:endParaRPr lang="en-US" sz="800" dirty="0"/>
          </a:p>
          <a:p>
            <a:pPr algn="l" marL="76200" indent="-76200">
              <a:lnSpc>
                <a:spcPts val="104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対応大学100校突破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2649438" y="3503861"/>
            <a:ext cx="1700361" cy="0"/>
          </a:xfrm>
          <a:prstGeom prst="line">
            <a:avLst/>
          </a:prstGeom>
          <a:noFill/>
          <a:ln w="9525">
            <a:solidFill>
              <a:srgbClr val="14B8A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649438" y="3559373"/>
            <a:ext cx="17343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 200万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649438" y="3800624"/>
            <a:ext cx="17343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有料会員 500人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4613225" y="1336477"/>
            <a:ext cx="2024062" cy="2759422"/>
          </a:xfrm>
          <a:prstGeom prst="roundRect">
            <a:avLst>
              <a:gd name="adj" fmla="val 502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775150" y="1498402"/>
            <a:ext cx="17342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B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775150" y="1663452"/>
            <a:ext cx="17342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グロース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775150" y="1949202"/>
            <a:ext cx="173421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Q1-Q2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4775150" y="2130177"/>
            <a:ext cx="1700213" cy="642342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04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塾向けライセンス販売</a:t>
            </a:r>
            <a:endParaRPr lang="en-US" sz="800" dirty="0"/>
          </a:p>
          <a:p>
            <a:pPr algn="l" marL="76200" indent="-76200">
              <a:lnSpc>
                <a:spcPts val="104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高校導入パイロット</a:t>
            </a:r>
            <a:endParaRPr lang="en-US" sz="800" dirty="0"/>
          </a:p>
          <a:p>
            <a:pPr algn="l" marL="76200" indent="-76200">
              <a:lnSpc>
                <a:spcPts val="104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合格実績データ蓄積</a:t>
            </a:r>
            <a:endParaRPr lang="en-US" sz="800" dirty="0"/>
          </a:p>
          <a:p>
            <a:pPr algn="l" marL="76200" indent="-76200">
              <a:lnSpc>
                <a:spcPts val="104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A準備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4775150" y="3503861"/>
            <a:ext cx="1700213" cy="0"/>
          </a:xfrm>
          <a:prstGeom prst="line">
            <a:avLst/>
          </a:prstGeom>
          <a:noFill/>
          <a:ln w="9525">
            <a:solidFill>
              <a:srgbClr val="14B8A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75150" y="3559373"/>
            <a:ext cx="17342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 2,000万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775150" y="3800624"/>
            <a:ext cx="1734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有料会員 3,000人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6738789" y="1336477"/>
            <a:ext cx="2024211" cy="2759422"/>
          </a:xfrm>
          <a:prstGeom prst="roundRect">
            <a:avLst>
              <a:gd name="adj" fmla="val 50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6900714" y="1498402"/>
            <a:ext cx="17343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C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6900714" y="1663452"/>
            <a:ext cx="173436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スケール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900714" y="1949202"/>
            <a:ext cx="173436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Q3-Q4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6900714" y="2130177"/>
            <a:ext cx="1700361" cy="642342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04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全国200大学対応</a:t>
            </a:r>
            <a:endParaRPr lang="en-US" sz="800" dirty="0"/>
          </a:p>
          <a:p>
            <a:pPr algn="l" marL="76200" indent="-76200">
              <a:lnSpc>
                <a:spcPts val="104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推薦入試対応拡大</a:t>
            </a:r>
            <a:endParaRPr lang="en-US" sz="800" dirty="0"/>
          </a:p>
          <a:p>
            <a:pPr algn="l" marL="76200" indent="-76200">
              <a:lnSpc>
                <a:spcPts val="104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海外大学対応検討</a:t>
            </a:r>
            <a:endParaRPr lang="en-US" sz="800" dirty="0"/>
          </a:p>
          <a:p>
            <a:pPr algn="l" marL="76200" indent="-76200">
              <a:lnSpc>
                <a:spcPts val="104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B2B本格展開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6900714" y="3503861"/>
            <a:ext cx="1700361" cy="0"/>
          </a:xfrm>
          <a:prstGeom prst="line">
            <a:avLst/>
          </a:prstGeom>
          <a:noFill/>
          <a:ln w="9525">
            <a:solidFill>
              <a:srgbClr val="14B8A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900714" y="3559373"/>
            <a:ext cx="17343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 1億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900714" y="3800624"/>
            <a:ext cx="17343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有料会員 10,000人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507950" y="4146649"/>
            <a:ext cx="3990975" cy="692051"/>
          </a:xfrm>
          <a:prstGeom prst="roundRect">
            <a:avLst>
              <a:gd name="adj" fmla="val 11011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634901" y="4222849"/>
            <a:ext cx="127060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STAR METRIC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634901" y="4343400"/>
            <a:ext cx="127060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週次アクティブ添削数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1982093" y="4349800"/>
            <a:ext cx="24376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利用頻度が継続率・口コミ・合格率に直結する先行指標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625876" y="4146649"/>
            <a:ext cx="4010174" cy="692051"/>
          </a:xfrm>
          <a:prstGeom prst="roundRect">
            <a:avLst>
              <a:gd name="adj" fmla="val 110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4762351" y="4232374"/>
            <a:ext cx="11669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15%+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4762351" y="4416475"/>
            <a:ext cx="11669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有料転換率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6058793" y="4232374"/>
            <a:ext cx="11670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3%以下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6058793" y="4473625"/>
            <a:ext cx="11670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月次チャーン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7355384" y="4232374"/>
            <a:ext cx="116707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NPS 50+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7355384" y="4416475"/>
            <a:ext cx="11670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顧客満足度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igetaokito/Desktop/coach-pitch/assets/logo-small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99" y="152400"/>
            <a:ext cx="762000" cy="190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192286"/>
            <a:ext cx="77724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62000" y="462111"/>
            <a:ext cx="7772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シード資金調達: 5,000万円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62000" y="1186011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総合型選抜市場No.1 AI EdTechプラットフォームへ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62000" y="1617762"/>
            <a:ext cx="2438400" cy="1159371"/>
          </a:xfrm>
          <a:prstGeom prst="roundRect">
            <a:avLst>
              <a:gd name="adj" fmla="val 8763"/>
            </a:avLst>
          </a:prstGeom>
          <a:solidFill>
            <a:srgbClr val="14B8A6">
              <a:alpha val="15000"/>
            </a:srgbClr>
          </a:solidFill>
          <a:ln w="9525">
            <a:solidFill>
              <a:srgbClr val="14B8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923925" y="1779687"/>
            <a:ext cx="215684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23925" y="2113062"/>
            <a:ext cx="21568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プロダクト開発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23925" y="2351187"/>
            <a:ext cx="2156841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BigQuery分析基盤、Stripe決済統合、大学データ200校拡充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352800" y="1617762"/>
            <a:ext cx="2438400" cy="1159371"/>
          </a:xfrm>
          <a:prstGeom prst="roundRect">
            <a:avLst>
              <a:gd name="adj" fmla="val 8763"/>
            </a:avLst>
          </a:prstGeom>
          <a:solidFill>
            <a:srgbClr val="14B8A6">
              <a:alpha val="15000"/>
            </a:srgbClr>
          </a:solidFill>
          <a:ln w="9525">
            <a:solidFill>
              <a:srgbClr val="14B8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514725" y="1779687"/>
            <a:ext cx="215684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514725" y="2113062"/>
            <a:ext cx="21568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マーケティング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514725" y="2351187"/>
            <a:ext cx="2156841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SNS広告、高校営業、インフルエンサー連携、LP制作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943600" y="1617762"/>
            <a:ext cx="2438400" cy="1159371"/>
          </a:xfrm>
          <a:prstGeom prst="roundRect">
            <a:avLst>
              <a:gd name="adj" fmla="val 8763"/>
            </a:avLst>
          </a:prstGeom>
          <a:solidFill>
            <a:srgbClr val="14B8A6">
              <a:alpha val="15000"/>
            </a:srgbClr>
          </a:solidFill>
          <a:ln w="9525">
            <a:solidFill>
              <a:srgbClr val="14B8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105525" y="1779687"/>
            <a:ext cx="215684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105525" y="2113062"/>
            <a:ext cx="21568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運営・採用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105525" y="2351187"/>
            <a:ext cx="2156841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大学生コーチ採用・研修、エンジニア採用、AI利用コスト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62000" y="2954834"/>
            <a:ext cx="7620000" cy="847427"/>
          </a:xfrm>
          <a:prstGeom prst="roundRect">
            <a:avLst>
              <a:gd name="adj" fmla="val 8992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14B8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974675" y="3091309"/>
            <a:ext cx="23080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月間固定費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974675" y="3249960"/>
            <a:ext cx="230803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30万円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74675" y="3532436"/>
            <a:ext cx="23080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1人運営の低コスト構造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3440609" y="3091309"/>
            <a:ext cx="23080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損益分岐点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3440609" y="3249960"/>
            <a:ext cx="230803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43人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3440609" y="3532436"/>
            <a:ext cx="23080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粗利7,044円/人で黒字化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5906542" y="3091309"/>
            <a:ext cx="23080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粗利率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5906542" y="3249960"/>
            <a:ext cx="230803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85%+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906542" y="3484811"/>
            <a:ext cx="23080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AIプラン / コーチ60%+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762000" y="4005411"/>
            <a:ext cx="77724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調達後マイルストーン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71525" y="4224486"/>
            <a:ext cx="0" cy="263426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82551" y="4224486"/>
            <a:ext cx="23815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3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882551" y="4345037"/>
            <a:ext cx="23815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ベータ版リリース + 100人テスト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3353842" y="4224486"/>
            <a:ext cx="0" cy="263426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464868" y="4224486"/>
            <a:ext cx="23815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6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3464868" y="4345037"/>
            <a:ext cx="23815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正式ローンチ + 有料会員200人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5936159" y="4224486"/>
            <a:ext cx="0" cy="263426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047184" y="4224486"/>
            <a:ext cx="23815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12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6047184" y="4345037"/>
            <a:ext cx="23815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 400万円 + Series A準備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762000" y="4665613"/>
            <a:ext cx="1904256" cy="412552"/>
          </a:xfrm>
          <a:prstGeom prst="roundRect">
            <a:avLst>
              <a:gd name="adj" fmla="val 12314"/>
            </a:avLst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1015901" y="4767114"/>
            <a:ext cx="142438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お問い合わせはこちら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2818656" y="4800451"/>
            <a:ext cx="20725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CoachFor  |  coachfor@example.com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igetaokito/Desktop/coach-pitch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99" y="152400"/>
            <a:ext cx="762000" cy="190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7950" y="431750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7950" y="752326"/>
            <a:ext cx="82906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用語集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07950" y="1787575"/>
            <a:ext cx="393709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7950" y="1409551"/>
            <a:ext cx="7772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346150" y="1409551"/>
            <a:ext cx="3160877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Recurring Revenue。月次経常収益。サブスクリプション型ビジネスの月間定期収入の合計。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7950" y="2322761"/>
            <a:ext cx="393709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7950" y="1944737"/>
            <a:ext cx="7772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346150" y="1944737"/>
            <a:ext cx="3160877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Recurring Revenue。年次経常収益。MRR x 12で算出。SaaSの事業規模を示す主要指標。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07950" y="2857946"/>
            <a:ext cx="393709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7950" y="2479923"/>
            <a:ext cx="7772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ARPU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346150" y="2479923"/>
            <a:ext cx="3160877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Revenue Per User。1ユーザーあたりの平均月間売上。有料会員の支払額の加重平均。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07950" y="3393132"/>
            <a:ext cx="393709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7950" y="3015109"/>
            <a:ext cx="7772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346150" y="3015109"/>
            <a:ext cx="3160877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Acquisition Cost。顧客獲得単価。1人の有料会員を獲得するためにかかるマーケティング費用。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07950" y="3928318"/>
            <a:ext cx="393709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7950" y="3550295"/>
            <a:ext cx="7772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346150" y="3550295"/>
            <a:ext cx="3160877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Time Value。顧客生涯価値。1人の顧客が契約期間中に支払う総額。ARPU x 平均継続月数。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07950" y="4463504"/>
            <a:ext cx="393709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7950" y="4085481"/>
            <a:ext cx="7772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LTV/CAC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346150" y="4085481"/>
            <a:ext cx="3160877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LTVをCACで割った比率。3x以上が健全とされ、投資対効果の高さを示す。当社目標は34x。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698950" y="1787575"/>
            <a:ext cx="393709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98950" y="1409551"/>
            <a:ext cx="7772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537150" y="1409551"/>
            <a:ext cx="3160877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Addressable Market。獲得可能な最大市場規模。製品が理論上到達しうる市場全体の売上。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698950" y="2322761"/>
            <a:ext cx="393709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698950" y="1944737"/>
            <a:ext cx="7772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537150" y="1944737"/>
            <a:ext cx="3160877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Serviceable Addressable Market。実際にサービス提供可能な市場規模。TAMのうち自社が対象とするセグメント。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698950" y="2857946"/>
            <a:ext cx="393709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698950" y="2479923"/>
            <a:ext cx="7772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537150" y="2479923"/>
            <a:ext cx="3160877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Serviceable Obtainable Market。短中期的に実際に獲得を見込める市場規模。SAMのうち現実的なシェア。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698950" y="3393132"/>
            <a:ext cx="393709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698950" y="3015109"/>
            <a:ext cx="7772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MAU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537150" y="3015109"/>
            <a:ext cx="3160877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Active Users。月間アクティブユーザー数。月に1回以上サービスを利用したユーザーの合計。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698950" y="3928318"/>
            <a:ext cx="393709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698950" y="3550295"/>
            <a:ext cx="7772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NPS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537150" y="3550295"/>
            <a:ext cx="3160877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Promoter Score。顧客推奨度。「このサービスを人に薦めるか」を-100〜+100で計測する満足度指標。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698950" y="4463504"/>
            <a:ext cx="393709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698950" y="4085481"/>
            <a:ext cx="7772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チャーン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5537150" y="4085481"/>
            <a:ext cx="3160877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Rate。解約率。一定期間内にサービスを解約した顧客の割合。低いほどビジネスが安定。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CoachFor 総合型選抜 - Investor Pitch Deck 2026</dc:title>
  <dc:subject>PptxGenJS Presentation</dc:subject>
  <dc:creator>CoachFor</dc:creator>
  <cp:lastModifiedBy>CoachFor</cp:lastModifiedBy>
  <cp:revision>1</cp:revision>
  <dcterms:created xsi:type="dcterms:W3CDTF">2026-03-23T14:02:00Z</dcterms:created>
  <dcterms:modified xsi:type="dcterms:W3CDTF">2026-03-23T14:02:00Z</dcterms:modified>
</cp:coreProperties>
</file>