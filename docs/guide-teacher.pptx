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igetaokito/Desktop/coach-sougou-sentaku-v2/workspace/slides/bg-tea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322189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12"/>
              </a:spcBef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 for 総合型選抜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85800" y="2218730"/>
            <a:ext cx="77724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60"/>
              </a:spcBef>
              <a:spcAft>
                <a:spcPts val="3000"/>
              </a:spcAft>
              <a:buNone/>
            </a:pPr>
            <a:r>
              <a:rPr lang="en-US" sz="2000" dirty="0">
                <a:solidFill>
                  <a:srgbClr val="99F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講師・管理者ガイド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85800" y="2971205"/>
            <a:ext cx="7772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生徒の学習状況を管理・サポートするためのガイド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7776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3150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システム概要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1000" y="980926"/>
            <a:ext cx="2675483" cy="2184202"/>
          </a:xfrm>
          <a:prstGeom prst="roundRect">
            <a:avLst>
              <a:gd name="adj" fmla="val 465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68226" y="1320552"/>
            <a:ext cx="23470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生徒ポータル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8226" y="1663452"/>
            <a:ext cx="2301032" cy="120015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自己分析ワークショップ</a:t>
            </a:r>
            <a:endParaRPr lang="en-US" sz="900" dirty="0"/>
          </a:p>
          <a:p>
            <a:pPr algn="l" marL="190500" indent="-1905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AI模擬面接（音声＋映像）</a:t>
            </a:r>
            <a:endParaRPr lang="en-US" sz="900" dirty="0"/>
          </a:p>
          <a:p>
            <a:pPr algn="l" marL="190500" indent="-1905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小論文添削（OCR＋AI）</a:t>
            </a:r>
            <a:endParaRPr lang="en-US" sz="900" dirty="0"/>
          </a:p>
          <a:p>
            <a:pPr algn="l" marL="190500" indent="-1905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志望校マッチング</a:t>
            </a:r>
            <a:endParaRPr lang="en-US" sz="900" dirty="0"/>
          </a:p>
          <a:p>
            <a:pPr algn="l" marL="190500" indent="-1905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出願書類エディタ</a:t>
            </a:r>
            <a:endParaRPr lang="en-US" sz="900" dirty="0"/>
          </a:p>
          <a:p>
            <a:pPr algn="l" marL="190500" indent="-1905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活動実績管理</a:t>
            </a:r>
            <a:endParaRPr lang="en-US" sz="900" dirty="0"/>
          </a:p>
          <a:p>
            <a:pPr algn="l" marL="190500" indent="-1905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成長トラッキング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34184" y="980926"/>
            <a:ext cx="2675632" cy="2184202"/>
          </a:xfrm>
          <a:prstGeom prst="roundRect">
            <a:avLst>
              <a:gd name="adj" fmla="val 465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21410" y="1320552"/>
            <a:ext cx="23472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管理者ポータル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21410" y="1663452"/>
            <a:ext cx="2301180" cy="10287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生徒一覧＆詳細</a:t>
            </a:r>
            <a:endParaRPr lang="en-US" sz="900" dirty="0"/>
          </a:p>
          <a:p>
            <a:pPr algn="l" marL="190500" indent="-1905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要注意生徒アラート</a:t>
            </a:r>
            <a:endParaRPr lang="en-US" sz="900" dirty="0"/>
          </a:p>
          <a:p>
            <a:pPr algn="l" marL="190500" indent="-1905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面談セッション管理</a:t>
            </a:r>
            <a:endParaRPr lang="en-US" sz="900" dirty="0"/>
          </a:p>
          <a:p>
            <a:pPr algn="l" marL="190500" indent="-1905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大学データ編集</a:t>
            </a:r>
            <a:endParaRPr lang="en-US" sz="900" dirty="0"/>
          </a:p>
          <a:p>
            <a:pPr algn="l" marL="190500" indent="-1905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分析ダッシュボード</a:t>
            </a:r>
            <a:endParaRPr lang="en-US" sz="900" dirty="0"/>
          </a:p>
          <a:p>
            <a:pPr algn="l" marL="190500" indent="-1905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合格者データ収集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087517" y="980926"/>
            <a:ext cx="2675483" cy="2184202"/>
          </a:xfrm>
          <a:prstGeom prst="roundRect">
            <a:avLst>
              <a:gd name="adj" fmla="val 465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74743" y="1320552"/>
            <a:ext cx="23470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Superadmin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74743" y="1606302"/>
            <a:ext cx="2301032" cy="6858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管理者アカウント管理</a:t>
            </a:r>
            <a:endParaRPr lang="en-US" sz="900" dirty="0"/>
          </a:p>
          <a:p>
            <a:pPr algn="l" marL="190500" indent="-1905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生徒の担当割り当て</a:t>
            </a:r>
            <a:endParaRPr lang="en-US" sz="900" dirty="0"/>
          </a:p>
          <a:p>
            <a:pPr algn="l" marL="190500" indent="-1905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全体統計ダッシュボード</a:t>
            </a:r>
            <a:endParaRPr lang="en-US" sz="900" dirty="0"/>
          </a:p>
          <a:p>
            <a:pPr algn="l" marL="190500" indent="-1905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ロールベースアクセス制御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7776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3150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生徒管理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04800" y="904726"/>
            <a:ext cx="4165550" cy="1841302"/>
          </a:xfrm>
          <a:prstGeom prst="roundRect">
            <a:avLst>
              <a:gd name="adj" fmla="val 551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260277"/>
            <a:ext cx="38344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生徒一覧（/admin/students）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7950" y="1615827"/>
            <a:ext cx="3759250" cy="8001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名前・志望校で検索</a:t>
            </a:r>
            <a:endParaRPr lang="en-US" sz="1000" dirty="0"/>
          </a:p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ステータスBadge表示</a:t>
            </a:r>
            <a:endParaRPr lang="en-US" sz="1000" dirty="0"/>
          </a:p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スコア推移でソート</a:t>
            </a:r>
            <a:endParaRPr lang="en-US" sz="1000" dirty="0"/>
          </a:p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アラートフラグ自動算出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73501" y="904726"/>
            <a:ext cx="4165699" cy="1841302"/>
          </a:xfrm>
          <a:prstGeom prst="roundRect">
            <a:avLst>
              <a:gd name="adj" fmla="val 551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76651" y="1260277"/>
            <a:ext cx="38345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生徒詳細（/admin/students/[id]）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76651" y="1615827"/>
            <a:ext cx="3759398" cy="8001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プロフィール＆志望校</a:t>
            </a:r>
            <a:endParaRPr lang="en-US" sz="1000" dirty="0"/>
          </a:p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面接・小論文スコア推移グラフ</a:t>
            </a:r>
            <a:endParaRPr lang="en-US" sz="1000" dirty="0"/>
          </a:p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弱点一覧テーブル</a:t>
            </a:r>
            <a:endParaRPr lang="en-US" sz="1000" dirty="0"/>
          </a:p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添削・面接履歴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4800" y="2898428"/>
            <a:ext cx="8534400" cy="1171129"/>
          </a:xfrm>
          <a:prstGeom prst="roundRect">
            <a:avLst>
              <a:gd name="adj" fmla="val 8675"/>
            </a:avLst>
          </a:prstGeom>
          <a:solidFill>
            <a:srgbClr val="F0FD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2501" y="3215729"/>
            <a:ext cx="834257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担当生徒スコーピング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2501" y="3564880"/>
            <a:ext cx="834257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admin/teacherは自分の担当生徒のみ表示。superadminは全生徒を閲覧可能。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7776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3150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要注意生徒アラート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04800" y="1044327"/>
            <a:ext cx="87050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AIが自動検出するアラート条件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04800" y="1380827"/>
            <a:ext cx="8534400" cy="682526"/>
          </a:xfrm>
          <a:prstGeom prst="roundRect">
            <a:avLst>
              <a:gd name="adj" fmla="val 11164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23850" y="1380827"/>
            <a:ext cx="0" cy="682526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22078"/>
            <a:ext cx="84330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提出停滞</a:t>
            </a:r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：7日以上添削・面接の提出がない生徒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4800" y="2114104"/>
            <a:ext cx="8534400" cy="682526"/>
          </a:xfrm>
          <a:prstGeom prst="roundRect">
            <a:avLst>
              <a:gd name="adj" fmla="val 11164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3850" y="2114104"/>
            <a:ext cx="0" cy="682526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55354"/>
            <a:ext cx="84330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スコア低下</a:t>
            </a:r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：直近3回のスコアが連続で下降している生徒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4800" y="2847380"/>
            <a:ext cx="8534400" cy="682526"/>
          </a:xfrm>
          <a:prstGeom prst="roundRect">
            <a:avLst>
              <a:gd name="adj" fmla="val 11164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23850" y="2847380"/>
            <a:ext cx="0" cy="682526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088630"/>
            <a:ext cx="84330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弱点固定化</a:t>
            </a:r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：同じ弱点が5回以上指摘されている生徒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4800" y="3580656"/>
            <a:ext cx="8534400" cy="682526"/>
          </a:xfrm>
          <a:prstGeom prst="roundRect">
            <a:avLst>
              <a:gd name="adj" fmla="val 11164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23850" y="3580656"/>
            <a:ext cx="0" cy="682526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821906"/>
            <a:ext cx="84330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出願期限接近</a:t>
            </a:r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：出願締切まで14日以内の生徒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04800" y="4390132"/>
            <a:ext cx="8534400" cy="758726"/>
          </a:xfrm>
          <a:prstGeom prst="roundRect">
            <a:avLst>
              <a:gd name="adj" fmla="val 13391"/>
            </a:avLst>
          </a:prstGeom>
          <a:solidFill>
            <a:srgbClr val="F0FD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7200" y="4669482"/>
            <a:ext cx="83941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ダッシュボードに自動表示</a:t>
            </a:r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：要注意生徒はログイン時にすぐ確認できます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7776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3150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面談セッション管理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1000" y="980926"/>
            <a:ext cx="4089350" cy="1841302"/>
          </a:xfrm>
          <a:prstGeom prst="roundRect">
            <a:avLst>
              <a:gd name="adj" fmla="val 551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84150" y="1336477"/>
            <a:ext cx="37567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セッション作成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84150" y="1692027"/>
            <a:ext cx="3683050" cy="8001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対面/オンライン（Google Meet）選択</a:t>
            </a:r>
            <a:endParaRPr lang="en-US" sz="1000" dirty="0"/>
          </a:p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Meetリンク手動入力</a:t>
            </a:r>
            <a:endParaRPr lang="en-US" sz="1000" dirty="0"/>
          </a:p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日時・生徒・タイプ設定</a:t>
            </a:r>
            <a:endParaRPr lang="en-US" sz="1000" dirty="0"/>
          </a:p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ステータス管理（予定→進行中→完了）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73501" y="980926"/>
            <a:ext cx="4089499" cy="1841302"/>
          </a:xfrm>
          <a:prstGeom prst="roundRect">
            <a:avLst>
              <a:gd name="adj" fmla="val 551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76651" y="1336477"/>
            <a:ext cx="37568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Claude自動サマリー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76651" y="1692027"/>
            <a:ext cx="3683198" cy="8001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セッション内容からAI要約を自動生成</a:t>
            </a:r>
            <a:endParaRPr lang="en-US" sz="1000" dirty="0"/>
          </a:p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指導報告書テンプレート形式</a:t>
            </a:r>
            <a:endParaRPr lang="en-US" sz="1000" dirty="0"/>
          </a:p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アクションアイテム抽出</a:t>
            </a:r>
            <a:endParaRPr lang="en-US" sz="1000" dirty="0"/>
          </a:p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生徒にもサマリーを共有可能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7776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3150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大学データ管理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04800" y="904726"/>
            <a:ext cx="4165550" cy="2041327"/>
          </a:xfrm>
          <a:prstGeom prst="roundRect">
            <a:avLst>
              <a:gd name="adj" fmla="val 497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260277"/>
            <a:ext cx="38344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対応大学（23校・189学部）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7950" y="1615827"/>
            <a:ext cx="3759250" cy="1000125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旧帝大7校</a:t>
            </a:r>
            <a:endParaRPr lang="en-US" sz="1000" dirty="0"/>
          </a:p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早慶上智3校</a:t>
            </a:r>
            <a:endParaRPr lang="en-US" sz="1000" dirty="0"/>
          </a:p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関関同立4校</a:t>
            </a:r>
            <a:endParaRPr lang="en-US" sz="1000" dirty="0"/>
          </a:p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MARCH5校</a:t>
            </a:r>
            <a:endParaRPr lang="en-US" sz="1000" dirty="0"/>
          </a:p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産近甲龍4校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73501" y="904726"/>
            <a:ext cx="4165699" cy="2041327"/>
          </a:xfrm>
          <a:prstGeom prst="roundRect">
            <a:avLst>
              <a:gd name="adj" fmla="val 497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76651" y="1260277"/>
            <a:ext cx="38345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編集可能データ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76651" y="1615827"/>
            <a:ext cx="3759398" cy="1000125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基本情報（名称・URL）</a:t>
            </a:r>
            <a:endParaRPr lang="en-US" sz="1000" dirty="0"/>
          </a:p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学部ごとのAP</a:t>
            </a:r>
            <a:endParaRPr lang="en-US" sz="1000" dirty="0"/>
          </a:p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選考方法・日程</a:t>
            </a:r>
            <a:endParaRPr lang="en-US" sz="1000" dirty="0"/>
          </a:p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面接傾向（形式・雰囲気・頻出テーマ）</a:t>
            </a:r>
            <a:endParaRPr lang="en-US" sz="1000" dirty="0"/>
          </a:p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出願要件（GPA・資格）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4800" y="3073003"/>
            <a:ext cx="8534400" cy="758726"/>
          </a:xfrm>
          <a:prstGeom prst="roundRect">
            <a:avLst>
              <a:gd name="adj" fmla="val 13391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7200" y="3352354"/>
            <a:ext cx="83941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毎年更新が必要</a:t>
            </a:r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：募集要項は毎年変わるため、年度切替時にデータ更新をお願いします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7776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3150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分析・レポート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1000" y="980926"/>
            <a:ext cx="4089350" cy="2041327"/>
          </a:xfrm>
          <a:prstGeom prst="roundRect">
            <a:avLst>
              <a:gd name="adj" fmla="val 497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84150" y="1336477"/>
            <a:ext cx="37567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ダッシュボード統計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84150" y="1692027"/>
            <a:ext cx="3683050" cy="1000125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総生徒数・アクティブ率</a:t>
            </a:r>
            <a:endParaRPr lang="en-US" sz="1000" dirty="0"/>
          </a:p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平均面接スコア推移</a:t>
            </a:r>
            <a:endParaRPr lang="en-US" sz="1000" dirty="0"/>
          </a:p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小論文提出頻度</a:t>
            </a:r>
            <a:endParaRPr lang="en-US" sz="1000" dirty="0"/>
          </a:p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弱点パターン分析</a:t>
            </a:r>
            <a:endParaRPr lang="en-US" sz="1000" dirty="0"/>
          </a:p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要注意生徒リスト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73501" y="980926"/>
            <a:ext cx="4089499" cy="2041327"/>
          </a:xfrm>
          <a:prstGeom prst="roundRect">
            <a:avLst>
              <a:gd name="adj" fmla="val 497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76651" y="1336477"/>
            <a:ext cx="37568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成長レポート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76651" y="1692027"/>
            <a:ext cx="3683198" cy="1000125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生徒個別の成長曲線</a:t>
            </a:r>
            <a:endParaRPr lang="en-US" sz="1000" dirty="0"/>
          </a:p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弱点の改善・固定化トラッキング</a:t>
            </a:r>
            <a:endParaRPr lang="en-US" sz="1000" dirty="0"/>
          </a:p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面接スコア4項目の推移</a:t>
            </a:r>
            <a:endParaRPr lang="en-US" sz="1000" dirty="0"/>
          </a:p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合格者データとの比較</a:t>
            </a:r>
            <a:endParaRPr lang="en-US" sz="1000" dirty="0"/>
          </a:p>
          <a:p>
            <a:pPr algn="l" marL="190500" indent="-1905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保護者向けレポート出力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7776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3150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運用のポイント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1000" y="968127"/>
            <a:ext cx="8382000" cy="682526"/>
          </a:xfrm>
          <a:prstGeom prst="roundRect">
            <a:avLst>
              <a:gd name="adj" fmla="val 111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Users/shigetaokito/Desktop/coach-sougou-sentaku-v2/workspace/slides/icon-check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00" y="1107728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0850" y="1209377"/>
            <a:ext cx="47226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生徒にまず自己分析を完了させる</a:t>
            </a:r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面接フィードバックの質が大幅に向上します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81000" y="1714054"/>
            <a:ext cx="8382000" cy="682526"/>
          </a:xfrm>
          <a:prstGeom prst="roundRect">
            <a:avLst>
              <a:gd name="adj" fmla="val 111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1" descr="/Users/shigetaokito/Desktop/coach-sougou-sentaku-v2/workspace/slides/icon-check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1853654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50850" y="1955304"/>
            <a:ext cx="36355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週1回はダッシュボードを確認</a:t>
            </a:r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アラートを見逃さず早期対応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381000" y="2459980"/>
            <a:ext cx="8382000" cy="682526"/>
          </a:xfrm>
          <a:prstGeom prst="roundRect">
            <a:avLst>
              <a:gd name="adj" fmla="val 111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2" descr="/Users/shigetaokito/Desktop/coach-sougou-sentaku-v2/workspace/slides/icon-check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2599581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50850" y="2701230"/>
            <a:ext cx="39572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面談後はセッションサマリーを生成</a:t>
            </a:r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指導記録の自動化で工数削減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381000" y="3205907"/>
            <a:ext cx="8382000" cy="682526"/>
          </a:xfrm>
          <a:prstGeom prst="roundRect">
            <a:avLst>
              <a:gd name="adj" fmla="val 111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3" descr="/Users/shigetaokito/Desktop/coach-sougou-sentaku-v2/workspace/slides/icon-check-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3345507"/>
            <a:ext cx="22860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50850" y="3447157"/>
            <a:ext cx="36120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大学データは年度始めに更新</a:t>
            </a:r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AP・日程・選考方法の最新化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381000" y="3951833"/>
            <a:ext cx="8382000" cy="682526"/>
          </a:xfrm>
          <a:prstGeom prst="roundRect">
            <a:avLst>
              <a:gd name="adj" fmla="val 111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4" descr="/Users/shigetaokito/Desktop/coach-sougou-sentaku-v2/workspace/slides/icon-check-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4091434"/>
            <a:ext cx="228600" cy="2286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50850" y="4193084"/>
            <a:ext cx="55114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合格者データを蓄積する</a:t>
            </a:r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年度ごとに合格者のスコアデータを登録し、後輩の目標設定に活用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coach for 総合型選抜 - 講師ガイド</dc:title>
  <dc:subject>PptxGenJS Presentation</dc:subject>
  <dc:creator>coach for 総合型選抜</dc:creator>
  <cp:lastModifiedBy>coach for 総合型選抜</cp:lastModifiedBy>
  <cp:revision>1</cp:revision>
  <dcterms:created xsi:type="dcterms:W3CDTF">2026-03-25T01:04:56Z</dcterms:created>
  <dcterms:modified xsi:type="dcterms:W3CDTF">2026-03-25T01:04:56Z</dcterms:modified>
</cp:coreProperties>
</file>